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 roundtripDataSignature="AMtx7mjZKopkPsddGIIZcdEbqzVSBspk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10" Type="http://customschemas.google.com/relationships/presentationmetadata" Target="metadata"/><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Calibri"/>
                <a:ea typeface="Calibri"/>
                <a:cs typeface="Calibri"/>
                <a:sym typeface="Calibri"/>
              </a:rPr>
              <a:t>Leapfrog your autonomous supply chain journey in days rather than months</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b="0" i="0" sz="18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5" name="Google Shape;5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56" name="Google Shape;56;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b="0" i="0" sz="18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67" name="Google Shape;67;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14" name="Google Shape;114;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b="0" i="0" sz="18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150" name="Google Shape;150;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Calibri"/>
              <a:buNone/>
            </a:pPr>
            <a:fld id="{00000000-1234-1234-1234-123412341234}" type="slidenum">
              <a:rPr b="0" i="0" lang="en-US" sz="1800" u="none" cap="none" strike="noStrike">
                <a:solidFill>
                  <a:srgbClr val="000000"/>
                </a:solidFill>
                <a:latin typeface="Calibri"/>
                <a:ea typeface="Calibri"/>
                <a:cs typeface="Calibri"/>
                <a:sym typeface="Calibri"/>
              </a:rPr>
              <a:t>‹#›</a:t>
            </a:fld>
            <a:endParaRPr b="0" i="0" sz="18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80F"/>
        </a:solidFill>
      </p:bgPr>
    </p:bg>
    <p:spTree>
      <p:nvGrpSpPr>
        <p:cNvPr id="11" name="Shape 11"/>
        <p:cNvGrpSpPr/>
        <p:nvPr/>
      </p:nvGrpSpPr>
      <p:grpSpPr>
        <a:xfrm>
          <a:off x="0" y="0"/>
          <a:ext cx="0" cy="0"/>
          <a:chOff x="0" y="0"/>
          <a:chExt cx="0" cy="0"/>
        </a:xfrm>
      </p:grpSpPr>
      <p:cxnSp>
        <p:nvCxnSpPr>
          <p:cNvPr id="12" name="Google Shape;12;p1"/>
          <p:cNvCxnSpPr/>
          <p:nvPr/>
        </p:nvCxnSpPr>
        <p:spPr>
          <a:xfrm>
            <a:off x="658368"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3" name="Google Shape;13;p1"/>
          <p:cNvCxnSpPr/>
          <p:nvPr/>
        </p:nvCxnSpPr>
        <p:spPr>
          <a:xfrm>
            <a:off x="1316736"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4" name="Google Shape;14;p1"/>
          <p:cNvCxnSpPr/>
          <p:nvPr/>
        </p:nvCxnSpPr>
        <p:spPr>
          <a:xfrm>
            <a:off x="1975104"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 name="Google Shape;15;p1"/>
          <p:cNvCxnSpPr/>
          <p:nvPr/>
        </p:nvCxnSpPr>
        <p:spPr>
          <a:xfrm>
            <a:off x="2633472"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6" name="Google Shape;16;p1"/>
          <p:cNvCxnSpPr/>
          <p:nvPr/>
        </p:nvCxnSpPr>
        <p:spPr>
          <a:xfrm>
            <a:off x="3291840"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7" name="Google Shape;17;p1"/>
          <p:cNvCxnSpPr/>
          <p:nvPr/>
        </p:nvCxnSpPr>
        <p:spPr>
          <a:xfrm>
            <a:off x="3950208"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8" name="Google Shape;18;p1"/>
          <p:cNvCxnSpPr/>
          <p:nvPr/>
        </p:nvCxnSpPr>
        <p:spPr>
          <a:xfrm>
            <a:off x="4608576"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9" name="Google Shape;19;p1"/>
          <p:cNvCxnSpPr/>
          <p:nvPr/>
        </p:nvCxnSpPr>
        <p:spPr>
          <a:xfrm>
            <a:off x="5266944"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20" name="Google Shape;20;p1"/>
          <p:cNvCxnSpPr/>
          <p:nvPr/>
        </p:nvCxnSpPr>
        <p:spPr>
          <a:xfrm>
            <a:off x="5925312"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21" name="Google Shape;21;p1"/>
          <p:cNvCxnSpPr/>
          <p:nvPr/>
        </p:nvCxnSpPr>
        <p:spPr>
          <a:xfrm>
            <a:off x="6583680"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22" name="Google Shape;22;p1"/>
          <p:cNvCxnSpPr/>
          <p:nvPr/>
        </p:nvCxnSpPr>
        <p:spPr>
          <a:xfrm>
            <a:off x="7242048"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23" name="Google Shape;23;p1"/>
          <p:cNvCxnSpPr/>
          <p:nvPr/>
        </p:nvCxnSpPr>
        <p:spPr>
          <a:xfrm>
            <a:off x="7900416"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24" name="Google Shape;24;p1"/>
          <p:cNvCxnSpPr/>
          <p:nvPr/>
        </p:nvCxnSpPr>
        <p:spPr>
          <a:xfrm>
            <a:off x="8558784"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25" name="Google Shape;25;p1"/>
          <p:cNvCxnSpPr/>
          <p:nvPr/>
        </p:nvCxnSpPr>
        <p:spPr>
          <a:xfrm>
            <a:off x="0" y="658368"/>
            <a:ext cx="9144000" cy="0"/>
          </a:xfrm>
          <a:prstGeom prst="straightConnector1">
            <a:avLst/>
          </a:prstGeom>
          <a:noFill/>
          <a:ln cap="flat" cmpd="sng" w="9525">
            <a:solidFill>
              <a:srgbClr val="0D1B2E"/>
            </a:solidFill>
            <a:prstDash val="solid"/>
            <a:round/>
            <a:headEnd len="sm" w="sm" type="none"/>
            <a:tailEnd len="sm" w="sm" type="none"/>
          </a:ln>
        </p:spPr>
      </p:cxnSp>
      <p:cxnSp>
        <p:nvCxnSpPr>
          <p:cNvPr id="26" name="Google Shape;26;p1"/>
          <p:cNvCxnSpPr/>
          <p:nvPr/>
        </p:nvCxnSpPr>
        <p:spPr>
          <a:xfrm>
            <a:off x="0" y="1316736"/>
            <a:ext cx="9144000" cy="0"/>
          </a:xfrm>
          <a:prstGeom prst="straightConnector1">
            <a:avLst/>
          </a:prstGeom>
          <a:noFill/>
          <a:ln cap="flat" cmpd="sng" w="9525">
            <a:solidFill>
              <a:srgbClr val="0D1B2E"/>
            </a:solidFill>
            <a:prstDash val="solid"/>
            <a:round/>
            <a:headEnd len="sm" w="sm" type="none"/>
            <a:tailEnd len="sm" w="sm" type="none"/>
          </a:ln>
        </p:spPr>
      </p:cxnSp>
      <p:cxnSp>
        <p:nvCxnSpPr>
          <p:cNvPr id="27" name="Google Shape;27;p1"/>
          <p:cNvCxnSpPr/>
          <p:nvPr/>
        </p:nvCxnSpPr>
        <p:spPr>
          <a:xfrm>
            <a:off x="0" y="1975104"/>
            <a:ext cx="9144000" cy="0"/>
          </a:xfrm>
          <a:prstGeom prst="straightConnector1">
            <a:avLst/>
          </a:prstGeom>
          <a:noFill/>
          <a:ln cap="flat" cmpd="sng" w="9525">
            <a:solidFill>
              <a:srgbClr val="0D1B2E"/>
            </a:solidFill>
            <a:prstDash val="solid"/>
            <a:round/>
            <a:headEnd len="sm" w="sm" type="none"/>
            <a:tailEnd len="sm" w="sm" type="none"/>
          </a:ln>
        </p:spPr>
      </p:cxnSp>
      <p:cxnSp>
        <p:nvCxnSpPr>
          <p:cNvPr id="28" name="Google Shape;28;p1"/>
          <p:cNvCxnSpPr/>
          <p:nvPr/>
        </p:nvCxnSpPr>
        <p:spPr>
          <a:xfrm>
            <a:off x="0" y="2633472"/>
            <a:ext cx="9144000" cy="0"/>
          </a:xfrm>
          <a:prstGeom prst="straightConnector1">
            <a:avLst/>
          </a:prstGeom>
          <a:noFill/>
          <a:ln cap="flat" cmpd="sng" w="9525">
            <a:solidFill>
              <a:srgbClr val="0D1B2E"/>
            </a:solidFill>
            <a:prstDash val="solid"/>
            <a:round/>
            <a:headEnd len="sm" w="sm" type="none"/>
            <a:tailEnd len="sm" w="sm" type="none"/>
          </a:ln>
        </p:spPr>
      </p:cxnSp>
      <p:cxnSp>
        <p:nvCxnSpPr>
          <p:cNvPr id="29" name="Google Shape;29;p1"/>
          <p:cNvCxnSpPr/>
          <p:nvPr/>
        </p:nvCxnSpPr>
        <p:spPr>
          <a:xfrm>
            <a:off x="0" y="3291840"/>
            <a:ext cx="9144000" cy="0"/>
          </a:xfrm>
          <a:prstGeom prst="straightConnector1">
            <a:avLst/>
          </a:prstGeom>
          <a:noFill/>
          <a:ln cap="flat" cmpd="sng" w="9525">
            <a:solidFill>
              <a:srgbClr val="0D1B2E"/>
            </a:solidFill>
            <a:prstDash val="solid"/>
            <a:round/>
            <a:headEnd len="sm" w="sm" type="none"/>
            <a:tailEnd len="sm" w="sm" type="none"/>
          </a:ln>
        </p:spPr>
      </p:cxnSp>
      <p:cxnSp>
        <p:nvCxnSpPr>
          <p:cNvPr id="30" name="Google Shape;30;p1"/>
          <p:cNvCxnSpPr/>
          <p:nvPr/>
        </p:nvCxnSpPr>
        <p:spPr>
          <a:xfrm>
            <a:off x="0" y="3950208"/>
            <a:ext cx="9144000" cy="0"/>
          </a:xfrm>
          <a:prstGeom prst="straightConnector1">
            <a:avLst/>
          </a:prstGeom>
          <a:noFill/>
          <a:ln cap="flat" cmpd="sng" w="9525">
            <a:solidFill>
              <a:srgbClr val="0D1B2E"/>
            </a:solidFill>
            <a:prstDash val="solid"/>
            <a:round/>
            <a:headEnd len="sm" w="sm" type="none"/>
            <a:tailEnd len="sm" w="sm" type="none"/>
          </a:ln>
        </p:spPr>
      </p:cxnSp>
      <p:cxnSp>
        <p:nvCxnSpPr>
          <p:cNvPr id="31" name="Google Shape;31;p1"/>
          <p:cNvCxnSpPr/>
          <p:nvPr/>
        </p:nvCxnSpPr>
        <p:spPr>
          <a:xfrm>
            <a:off x="0" y="4608576"/>
            <a:ext cx="9144000" cy="0"/>
          </a:xfrm>
          <a:prstGeom prst="straightConnector1">
            <a:avLst/>
          </a:prstGeom>
          <a:noFill/>
          <a:ln cap="flat" cmpd="sng" w="9525">
            <a:solidFill>
              <a:srgbClr val="0D1B2E"/>
            </a:solidFill>
            <a:prstDash val="solid"/>
            <a:round/>
            <a:headEnd len="sm" w="sm" type="none"/>
            <a:tailEnd len="sm" w="sm" type="none"/>
          </a:ln>
        </p:spPr>
      </p:cxnSp>
      <p:sp>
        <p:nvSpPr>
          <p:cNvPr id="32" name="Google Shape;32;p1"/>
          <p:cNvSpPr/>
          <p:nvPr/>
        </p:nvSpPr>
        <p:spPr>
          <a:xfrm>
            <a:off x="2286000" y="731520"/>
            <a:ext cx="4572000" cy="3657600"/>
          </a:xfrm>
          <a:prstGeom prst="ellipse">
            <a:avLst/>
          </a:prstGeom>
          <a:solidFill>
            <a:srgbClr val="021A15">
              <a:alpha val="70196"/>
            </a:srgbClr>
          </a:solidFill>
          <a:ln cap="flat" cmpd="sng" w="12700">
            <a:solidFill>
              <a:srgbClr val="04080F"/>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 name="Google Shape;33;p1"/>
          <p:cNvSpPr/>
          <p:nvPr/>
        </p:nvSpPr>
        <p:spPr>
          <a:xfrm>
            <a:off x="548640" y="384048"/>
            <a:ext cx="347472" cy="347472"/>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1"/>
          <p:cNvSpPr/>
          <p:nvPr/>
        </p:nvSpPr>
        <p:spPr>
          <a:xfrm>
            <a:off x="987552" y="384048"/>
            <a:ext cx="2743200" cy="34747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1800"/>
              <a:buFont typeface="Calibri"/>
              <a:buNone/>
            </a:pPr>
            <a:r>
              <a:rPr b="1" i="0" lang="en-US" sz="1800" u="none" cap="none" strike="noStrike">
                <a:solidFill>
                  <a:srgbClr val="F0F7FF"/>
                </a:solidFill>
                <a:latin typeface="Calibri"/>
                <a:ea typeface="Calibri"/>
                <a:cs typeface="Calibri"/>
                <a:sym typeface="Calibri"/>
              </a:rPr>
              <a:t>Optaro</a:t>
            </a:r>
            <a:r>
              <a:rPr b="1" i="0" lang="en-US" sz="1800" u="none" cap="none" strike="noStrike">
                <a:solidFill>
                  <a:srgbClr val="00C9A7"/>
                </a:solidFill>
                <a:latin typeface="Calibri"/>
                <a:ea typeface="Calibri"/>
                <a:cs typeface="Calibri"/>
                <a:sym typeface="Calibri"/>
              </a:rPr>
              <a:t>.ai</a:t>
            </a:r>
            <a:endParaRPr b="0" i="0" sz="1800" u="none" cap="none" strike="noStrike">
              <a:solidFill>
                <a:srgbClr val="000000"/>
              </a:solidFill>
              <a:latin typeface="Calibri"/>
              <a:ea typeface="Calibri"/>
              <a:cs typeface="Calibri"/>
              <a:sym typeface="Calibri"/>
            </a:endParaRPr>
          </a:p>
        </p:txBody>
      </p:sp>
      <p:sp>
        <p:nvSpPr>
          <p:cNvPr id="35" name="Google Shape;35;p1"/>
          <p:cNvSpPr/>
          <p:nvPr/>
        </p:nvSpPr>
        <p:spPr>
          <a:xfrm>
            <a:off x="548640" y="841248"/>
            <a:ext cx="2926080" cy="237744"/>
          </a:xfrm>
          <a:prstGeom prst="rect">
            <a:avLst/>
          </a:prstGeom>
          <a:solidFill>
            <a:srgbClr val="062E28"/>
          </a:solidFill>
          <a:ln cap="flat" cmpd="sng" w="9525">
            <a:solidFill>
              <a:srgbClr val="0A4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1"/>
          <p:cNvSpPr/>
          <p:nvPr/>
        </p:nvSpPr>
        <p:spPr>
          <a:xfrm>
            <a:off x="548640" y="841248"/>
            <a:ext cx="2926080" cy="23774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800"/>
              <a:buFont typeface="Calibri"/>
              <a:buNone/>
            </a:pPr>
            <a:r>
              <a:rPr b="1" i="0" lang="en-US" sz="800" u="none" cap="none" strike="noStrike">
                <a:solidFill>
                  <a:srgbClr val="00C9A7"/>
                </a:solidFill>
                <a:latin typeface="Calibri"/>
                <a:ea typeface="Calibri"/>
                <a:cs typeface="Calibri"/>
                <a:sym typeface="Calibri"/>
              </a:rPr>
              <a:t>● AI FIRST AGENTIC SUPPLY CHAIN PLATFORM</a:t>
            </a:r>
            <a:endParaRPr b="0" i="0" sz="800" u="none" cap="none" strike="noStrike">
              <a:solidFill>
                <a:srgbClr val="000000"/>
              </a:solidFill>
              <a:latin typeface="Calibri"/>
              <a:ea typeface="Calibri"/>
              <a:cs typeface="Calibri"/>
              <a:sym typeface="Calibri"/>
            </a:endParaRPr>
          </a:p>
        </p:txBody>
      </p:sp>
      <p:sp>
        <p:nvSpPr>
          <p:cNvPr id="37" name="Google Shape;37;p1"/>
          <p:cNvSpPr/>
          <p:nvPr/>
        </p:nvSpPr>
        <p:spPr>
          <a:xfrm>
            <a:off x="548639" y="1170431"/>
            <a:ext cx="6153914" cy="2947303"/>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2800">
                <a:solidFill>
                  <a:srgbClr val="F0F7FF"/>
                </a:solidFill>
                <a:latin typeface="Calibri"/>
                <a:ea typeface="Calibri"/>
                <a:cs typeface="Calibri"/>
                <a:sym typeface="Calibri"/>
              </a:rPr>
              <a:t>Your supply chain. </a:t>
            </a:r>
            <a:endParaRPr/>
          </a:p>
          <a:p>
            <a:pPr indent="0" lvl="0" marL="0" marR="0" rtl="0" algn="l">
              <a:spcBef>
                <a:spcPts val="400"/>
              </a:spcBef>
              <a:spcAft>
                <a:spcPts val="0"/>
              </a:spcAft>
              <a:buNone/>
            </a:pPr>
            <a:r>
              <a:rPr i="1" lang="en-US" sz="2200">
                <a:solidFill>
                  <a:srgbClr val="00C9A7"/>
                </a:solidFill>
                <a:latin typeface="Georgia"/>
                <a:ea typeface="Georgia"/>
                <a:cs typeface="Georgia"/>
                <a:sym typeface="Georgia"/>
              </a:rPr>
              <a:t>Autonomous. Operational. Now.</a:t>
            </a:r>
            <a:endParaRPr/>
          </a:p>
          <a:p>
            <a:pPr indent="0" lvl="0" marL="0" marR="0" rtl="0" algn="l">
              <a:spcBef>
                <a:spcPts val="400"/>
              </a:spcBef>
              <a:spcAft>
                <a:spcPts val="0"/>
              </a:spcAft>
              <a:buNone/>
            </a:pPr>
            <a:r>
              <a:t/>
            </a:r>
            <a:endParaRPr b="1" i="0" sz="2800" u="none" cap="none" strike="noStrike">
              <a:solidFill>
                <a:srgbClr val="F0F7FF"/>
              </a:solidFill>
              <a:latin typeface="Calibri"/>
              <a:ea typeface="Calibri"/>
              <a:cs typeface="Calibri"/>
              <a:sym typeface="Calibri"/>
            </a:endParaRPr>
          </a:p>
          <a:p>
            <a:pPr indent="0" lvl="0" marL="0" marR="0" rtl="0" algn="l">
              <a:lnSpc>
                <a:spcPct val="100000"/>
              </a:lnSpc>
              <a:spcBef>
                <a:spcPts val="400"/>
              </a:spcBef>
              <a:spcAft>
                <a:spcPts val="0"/>
              </a:spcAft>
              <a:buClr>
                <a:schemeClr val="lt1"/>
              </a:buClr>
              <a:buSzPts val="1400"/>
              <a:buFont typeface="Calibri"/>
              <a:buNone/>
            </a:pPr>
            <a:r>
              <a:rPr lang="en-US" sz="1400">
                <a:solidFill>
                  <a:schemeClr val="lt1"/>
                </a:solidFill>
                <a:latin typeface="Calibri"/>
                <a:ea typeface="Calibri"/>
                <a:cs typeface="Calibri"/>
                <a:sym typeface="Calibri"/>
              </a:rPr>
              <a:t>P</a:t>
            </a:r>
            <a:r>
              <a:rPr b="0" i="0" lang="en-US" sz="1400" u="none" cap="none" strike="noStrike">
                <a:solidFill>
                  <a:schemeClr val="lt1"/>
                </a:solidFill>
                <a:latin typeface="Calibri"/>
                <a:ea typeface="Calibri"/>
                <a:cs typeface="Calibri"/>
                <a:sym typeface="Calibri"/>
              </a:rPr>
              <a:t>re-built and trained AI agents for speed to value</a:t>
            </a:r>
            <a:endParaRPr/>
          </a:p>
          <a:p>
            <a:pPr indent="0" lvl="0" marL="0" marR="0" rtl="0" algn="l">
              <a:lnSpc>
                <a:spcPct val="100000"/>
              </a:lnSpc>
              <a:spcBef>
                <a:spcPts val="400"/>
              </a:spcBef>
              <a:spcAft>
                <a:spcPts val="0"/>
              </a:spcAft>
              <a:buClr>
                <a:schemeClr val="dk1"/>
              </a:buClr>
              <a:buSzPts val="1400"/>
              <a:buFont typeface="Calibri"/>
              <a:buNone/>
            </a:pPr>
            <a:r>
              <a:t/>
            </a:r>
            <a:endParaRPr sz="1400">
              <a:solidFill>
                <a:schemeClr val="lt1"/>
              </a:solidFill>
              <a:latin typeface="Calibri"/>
              <a:ea typeface="Calibri"/>
              <a:cs typeface="Calibri"/>
              <a:sym typeface="Calibri"/>
            </a:endParaRPr>
          </a:p>
          <a:p>
            <a:pPr indent="0" lvl="0" marL="0" marR="0" rtl="0" algn="l">
              <a:lnSpc>
                <a:spcPct val="100000"/>
              </a:lnSpc>
              <a:spcBef>
                <a:spcPts val="400"/>
              </a:spcBef>
              <a:spcAft>
                <a:spcPts val="0"/>
              </a:spcAft>
              <a:buClr>
                <a:schemeClr val="lt1"/>
              </a:buClr>
              <a:buSzPts val="1400"/>
              <a:buFont typeface="Calibri"/>
              <a:buNone/>
            </a:pPr>
            <a:r>
              <a:rPr b="0" i="0" lang="en-US" sz="1400" u="none" cap="none" strike="noStrike">
                <a:solidFill>
                  <a:schemeClr val="lt1"/>
                </a:solidFill>
                <a:latin typeface="Calibri"/>
                <a:ea typeface="Calibri"/>
                <a:cs typeface="Calibri"/>
                <a:sym typeface="Calibri"/>
              </a:rPr>
              <a:t>Retain your competitive advantage by keeping your data in your world</a:t>
            </a:r>
            <a:endParaRPr/>
          </a:p>
          <a:p>
            <a:pPr indent="0" lvl="0" marL="0" marR="0" rtl="0" algn="l">
              <a:lnSpc>
                <a:spcPct val="100000"/>
              </a:lnSpc>
              <a:spcBef>
                <a:spcPts val="400"/>
              </a:spcBef>
              <a:spcAft>
                <a:spcPts val="0"/>
              </a:spcAft>
              <a:buClr>
                <a:schemeClr val="dk1"/>
              </a:buClr>
              <a:buSzPts val="1600"/>
              <a:buFont typeface="Calibri"/>
              <a:buNone/>
            </a:pPr>
            <a:r>
              <a:t/>
            </a:r>
            <a:endParaRPr sz="1600">
              <a:solidFill>
                <a:schemeClr val="lt1"/>
              </a:solidFill>
              <a:latin typeface="Calibri"/>
              <a:ea typeface="Calibri"/>
              <a:cs typeface="Calibri"/>
              <a:sym typeface="Calibri"/>
            </a:endParaRPr>
          </a:p>
          <a:p>
            <a:pPr indent="0" lvl="0" marL="0" marR="0" rtl="0" algn="l">
              <a:lnSpc>
                <a:spcPct val="100000"/>
              </a:lnSpc>
              <a:spcBef>
                <a:spcPts val="400"/>
              </a:spcBef>
              <a:spcAft>
                <a:spcPts val="0"/>
              </a:spcAft>
              <a:buClr>
                <a:schemeClr val="dk1"/>
              </a:buClr>
              <a:buSzPts val="1600"/>
              <a:buFont typeface="Calibri"/>
              <a:buNone/>
            </a:pPr>
            <a:r>
              <a:t/>
            </a:r>
            <a:endParaRPr b="0" i="0" sz="1600" u="none" cap="none" strike="noStrike">
              <a:solidFill>
                <a:schemeClr val="lt1"/>
              </a:solidFill>
              <a:latin typeface="Calibri"/>
              <a:ea typeface="Calibri"/>
              <a:cs typeface="Calibri"/>
              <a:sym typeface="Calibri"/>
            </a:endParaRPr>
          </a:p>
        </p:txBody>
      </p:sp>
      <p:sp>
        <p:nvSpPr>
          <p:cNvPr id="38" name="Google Shape;38;p1"/>
          <p:cNvSpPr/>
          <p:nvPr/>
        </p:nvSpPr>
        <p:spPr>
          <a:xfrm>
            <a:off x="548640" y="3913632"/>
            <a:ext cx="3200400" cy="27432"/>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1"/>
          <p:cNvSpPr/>
          <p:nvPr/>
        </p:nvSpPr>
        <p:spPr>
          <a:xfrm>
            <a:off x="548640" y="4112259"/>
            <a:ext cx="5394960" cy="804672"/>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718DA8"/>
              </a:buClr>
              <a:buSzPts val="1100"/>
              <a:buFont typeface="Calibri"/>
              <a:buNone/>
            </a:pPr>
            <a:r>
              <a:rPr b="0" i="0" lang="en-US" sz="1100" u="none" cap="none" strike="noStrike">
                <a:solidFill>
                  <a:srgbClr val="718DA8"/>
                </a:solidFill>
                <a:latin typeface="Calibri"/>
                <a:ea typeface="Calibri"/>
                <a:cs typeface="Calibri"/>
                <a:sym typeface="Calibri"/>
              </a:rPr>
              <a:t>Optaro, an AI first platform, deploys AI agents across your supply chain — sensing demand, rightsizing inventory, and executing decisions to protect EBITDA, release working capital, and unlock revenue growth.</a:t>
            </a:r>
            <a:endParaRPr b="0" i="0" sz="1100" u="none" cap="none" strike="noStrike">
              <a:solidFill>
                <a:srgbClr val="000000"/>
              </a:solidFill>
              <a:latin typeface="Calibri"/>
              <a:ea typeface="Calibri"/>
              <a:cs typeface="Calibri"/>
              <a:sym typeface="Calibri"/>
            </a:endParaRPr>
          </a:p>
        </p:txBody>
      </p:sp>
      <p:sp>
        <p:nvSpPr>
          <p:cNvPr id="40" name="Google Shape;40;p1"/>
          <p:cNvSpPr/>
          <p:nvPr/>
        </p:nvSpPr>
        <p:spPr>
          <a:xfrm>
            <a:off x="6949440" y="339554"/>
            <a:ext cx="2194560" cy="514350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1"/>
          <p:cNvSpPr/>
          <p:nvPr/>
        </p:nvSpPr>
        <p:spPr>
          <a:xfrm>
            <a:off x="6949440" y="0"/>
            <a:ext cx="2194560" cy="54864"/>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 name="Google Shape;42;p1"/>
          <p:cNvSpPr/>
          <p:nvPr/>
        </p:nvSpPr>
        <p:spPr>
          <a:xfrm>
            <a:off x="6990700" y="977183"/>
            <a:ext cx="2103120" cy="1051560"/>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 name="Google Shape;43;p1"/>
          <p:cNvSpPr/>
          <p:nvPr/>
        </p:nvSpPr>
        <p:spPr>
          <a:xfrm>
            <a:off x="7082140" y="1068623"/>
            <a:ext cx="19202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5A623"/>
              </a:buClr>
              <a:buSzPts val="2800"/>
              <a:buFont typeface="Calibri"/>
              <a:buNone/>
            </a:pPr>
            <a:r>
              <a:rPr b="1" lang="en-US" sz="2800">
                <a:solidFill>
                  <a:srgbClr val="F5A623"/>
                </a:solidFill>
                <a:latin typeface="Calibri"/>
                <a:ea typeface="Calibri"/>
                <a:cs typeface="Calibri"/>
                <a:sym typeface="Calibri"/>
              </a:rPr>
              <a:t>10</a:t>
            </a:r>
            <a:r>
              <a:rPr b="1" i="0" lang="en-US" sz="2800" u="none" cap="none" strike="noStrike">
                <a:solidFill>
                  <a:srgbClr val="F5A623"/>
                </a:solidFill>
                <a:latin typeface="Calibri"/>
                <a:ea typeface="Calibri"/>
                <a:cs typeface="Calibri"/>
                <a:sym typeface="Calibri"/>
              </a:rPr>
              <a:t>–15%</a:t>
            </a:r>
            <a:endParaRPr b="0" i="0" sz="2800" u="none" cap="none" strike="noStrike">
              <a:solidFill>
                <a:srgbClr val="000000"/>
              </a:solidFill>
              <a:latin typeface="Calibri"/>
              <a:ea typeface="Calibri"/>
              <a:cs typeface="Calibri"/>
              <a:sym typeface="Calibri"/>
            </a:endParaRPr>
          </a:p>
        </p:txBody>
      </p:sp>
      <p:sp>
        <p:nvSpPr>
          <p:cNvPr id="44" name="Google Shape;44;p1"/>
          <p:cNvSpPr/>
          <p:nvPr/>
        </p:nvSpPr>
        <p:spPr>
          <a:xfrm>
            <a:off x="7082140" y="1544111"/>
            <a:ext cx="19202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8DA8"/>
              </a:buClr>
              <a:buSzPts val="900"/>
              <a:buFont typeface="Calibri"/>
              <a:buNone/>
            </a:pPr>
            <a:r>
              <a:rPr b="0" i="0" lang="en-US" sz="900" u="none" cap="none" strike="noStrike">
                <a:solidFill>
                  <a:srgbClr val="718DA8"/>
                </a:solidFill>
                <a:latin typeface="Calibri"/>
                <a:ea typeface="Calibri"/>
                <a:cs typeface="Calibri"/>
                <a:sym typeface="Calibri"/>
              </a:rPr>
              <a:t>Working Capital</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718DA8"/>
              </a:buClr>
              <a:buSzPts val="900"/>
              <a:buFont typeface="Calibri"/>
              <a:buNone/>
            </a:pPr>
            <a:r>
              <a:rPr b="0" i="0" lang="en-US" sz="900" u="none" cap="none" strike="noStrike">
                <a:solidFill>
                  <a:srgbClr val="718DA8"/>
                </a:solidFill>
                <a:latin typeface="Calibri"/>
                <a:ea typeface="Calibri"/>
                <a:cs typeface="Calibri"/>
                <a:sym typeface="Calibri"/>
              </a:rPr>
              <a:t>Released</a:t>
            </a:r>
            <a:endParaRPr b="0" i="0" sz="900" u="none" cap="none" strike="noStrike">
              <a:solidFill>
                <a:srgbClr val="000000"/>
              </a:solidFill>
              <a:latin typeface="Calibri"/>
              <a:ea typeface="Calibri"/>
              <a:cs typeface="Calibri"/>
              <a:sym typeface="Calibri"/>
            </a:endParaRPr>
          </a:p>
        </p:txBody>
      </p:sp>
      <p:sp>
        <p:nvSpPr>
          <p:cNvPr id="45" name="Google Shape;45;p1"/>
          <p:cNvSpPr/>
          <p:nvPr/>
        </p:nvSpPr>
        <p:spPr>
          <a:xfrm>
            <a:off x="6990700" y="2120183"/>
            <a:ext cx="2103120" cy="1051560"/>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1"/>
          <p:cNvSpPr/>
          <p:nvPr/>
        </p:nvSpPr>
        <p:spPr>
          <a:xfrm>
            <a:off x="7082140" y="2211623"/>
            <a:ext cx="19202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C6EF6"/>
              </a:buClr>
              <a:buSzPts val="2800"/>
              <a:buFont typeface="Calibri"/>
              <a:buNone/>
            </a:pPr>
            <a:r>
              <a:rPr b="1" i="0" lang="en-US" sz="2800" u="none" cap="none" strike="noStrike">
                <a:solidFill>
                  <a:srgbClr val="7C6EF6"/>
                </a:solidFill>
                <a:latin typeface="Calibri"/>
                <a:ea typeface="Calibri"/>
                <a:cs typeface="Calibri"/>
                <a:sym typeface="Calibri"/>
              </a:rPr>
              <a:t>+3%</a:t>
            </a:r>
            <a:endParaRPr b="0" i="0" sz="2800" u="none" cap="none" strike="noStrike">
              <a:solidFill>
                <a:srgbClr val="000000"/>
              </a:solidFill>
              <a:latin typeface="Calibri"/>
              <a:ea typeface="Calibri"/>
              <a:cs typeface="Calibri"/>
              <a:sym typeface="Calibri"/>
            </a:endParaRPr>
          </a:p>
        </p:txBody>
      </p:sp>
      <p:sp>
        <p:nvSpPr>
          <p:cNvPr id="47" name="Google Shape;47;p1"/>
          <p:cNvSpPr/>
          <p:nvPr/>
        </p:nvSpPr>
        <p:spPr>
          <a:xfrm>
            <a:off x="7082140" y="2687111"/>
            <a:ext cx="19202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8DA8"/>
              </a:buClr>
              <a:buSzPts val="900"/>
              <a:buFont typeface="Calibri"/>
              <a:buNone/>
            </a:pPr>
            <a:r>
              <a:rPr b="0" i="0" lang="en-US" sz="900" u="none" cap="none" strike="noStrike">
                <a:solidFill>
                  <a:srgbClr val="718DA8"/>
                </a:solidFill>
                <a:latin typeface="Calibri"/>
                <a:ea typeface="Calibri"/>
                <a:cs typeface="Calibri"/>
                <a:sym typeface="Calibri"/>
              </a:rPr>
              <a:t>Revenue Growth</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718DA8"/>
              </a:buClr>
              <a:buSzPts val="900"/>
              <a:buFont typeface="Calibri"/>
              <a:buNone/>
            </a:pPr>
            <a:r>
              <a:rPr b="0" i="0" lang="en-US" sz="900" u="none" cap="none" strike="noStrike">
                <a:solidFill>
                  <a:srgbClr val="718DA8"/>
                </a:solidFill>
                <a:latin typeface="Calibri"/>
                <a:ea typeface="Calibri"/>
                <a:cs typeface="Calibri"/>
                <a:sym typeface="Calibri"/>
              </a:rPr>
              <a:t>Enabled</a:t>
            </a:r>
            <a:endParaRPr b="0" i="0" sz="900" u="none" cap="none" strike="noStrike">
              <a:solidFill>
                <a:srgbClr val="000000"/>
              </a:solidFill>
              <a:latin typeface="Calibri"/>
              <a:ea typeface="Calibri"/>
              <a:cs typeface="Calibri"/>
              <a:sym typeface="Calibri"/>
            </a:endParaRPr>
          </a:p>
        </p:txBody>
      </p:sp>
      <p:sp>
        <p:nvSpPr>
          <p:cNvPr id="48" name="Google Shape;48;p1"/>
          <p:cNvSpPr/>
          <p:nvPr/>
        </p:nvSpPr>
        <p:spPr>
          <a:xfrm>
            <a:off x="6990700" y="3263183"/>
            <a:ext cx="2103120" cy="1051560"/>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1"/>
          <p:cNvSpPr/>
          <p:nvPr/>
        </p:nvSpPr>
        <p:spPr>
          <a:xfrm>
            <a:off x="7082140" y="3354623"/>
            <a:ext cx="1920240" cy="5029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2800"/>
              <a:buFont typeface="Calibri"/>
              <a:buNone/>
            </a:pPr>
            <a:r>
              <a:rPr b="1" i="0" lang="en-US" sz="2800" u="none" cap="none" strike="noStrike">
                <a:solidFill>
                  <a:srgbClr val="00C9A7"/>
                </a:solidFill>
                <a:latin typeface="Calibri"/>
                <a:ea typeface="Calibri"/>
                <a:cs typeface="Calibri"/>
                <a:sym typeface="Calibri"/>
              </a:rPr>
              <a:t>14</a:t>
            </a:r>
            <a:endParaRPr b="0" i="0" sz="2800" u="none" cap="none" strike="noStrike">
              <a:solidFill>
                <a:srgbClr val="000000"/>
              </a:solidFill>
              <a:latin typeface="Calibri"/>
              <a:ea typeface="Calibri"/>
              <a:cs typeface="Calibri"/>
              <a:sym typeface="Calibri"/>
            </a:endParaRPr>
          </a:p>
        </p:txBody>
      </p:sp>
      <p:sp>
        <p:nvSpPr>
          <p:cNvPr id="50" name="Google Shape;50;p1"/>
          <p:cNvSpPr/>
          <p:nvPr/>
        </p:nvSpPr>
        <p:spPr>
          <a:xfrm>
            <a:off x="7082140" y="3830111"/>
            <a:ext cx="192024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8DA8"/>
              </a:buClr>
              <a:buSzPts val="900"/>
              <a:buFont typeface="Calibri"/>
              <a:buNone/>
            </a:pPr>
            <a:r>
              <a:rPr b="0" i="0" lang="en-US" sz="900" u="none" cap="none" strike="noStrike">
                <a:solidFill>
                  <a:srgbClr val="718DA8"/>
                </a:solidFill>
                <a:latin typeface="Calibri"/>
                <a:ea typeface="Calibri"/>
                <a:cs typeface="Calibri"/>
                <a:sym typeface="Calibri"/>
              </a:rPr>
              <a:t>Days to First</a:t>
            </a:r>
            <a:endParaRPr b="0" i="0" sz="9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718DA8"/>
              </a:buClr>
              <a:buSzPts val="900"/>
              <a:buFont typeface="Calibri"/>
              <a:buNone/>
            </a:pPr>
            <a:r>
              <a:rPr b="0" i="0" lang="en-US" sz="900" u="none" cap="none" strike="noStrike">
                <a:solidFill>
                  <a:srgbClr val="718DA8"/>
                </a:solidFill>
                <a:latin typeface="Calibri"/>
                <a:ea typeface="Calibri"/>
                <a:cs typeface="Calibri"/>
                <a:sym typeface="Calibri"/>
              </a:rPr>
              <a:t>Agent Action</a:t>
            </a:r>
            <a:endParaRPr b="0" i="0" sz="900" u="none" cap="none" strike="noStrike">
              <a:solidFill>
                <a:srgbClr val="000000"/>
              </a:solidFill>
              <a:latin typeface="Calibri"/>
              <a:ea typeface="Calibri"/>
              <a:cs typeface="Calibri"/>
              <a:sym typeface="Calibri"/>
            </a:endParaRPr>
          </a:p>
        </p:txBody>
      </p:sp>
      <p:sp>
        <p:nvSpPr>
          <p:cNvPr id="51" name="Google Shape;51;p1"/>
          <p:cNvSpPr/>
          <p:nvPr/>
        </p:nvSpPr>
        <p:spPr>
          <a:xfrm>
            <a:off x="0" y="4846320"/>
            <a:ext cx="9144000" cy="29718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1"/>
          <p:cNvSpPr/>
          <p:nvPr/>
        </p:nvSpPr>
        <p:spPr>
          <a:xfrm>
            <a:off x="5943600" y="4864608"/>
            <a:ext cx="28803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E566B"/>
              </a:buClr>
              <a:buSzPts val="800"/>
              <a:buFont typeface="Calibri"/>
              <a:buNone/>
            </a:pPr>
            <a:r>
              <a:rPr b="0" i="0" lang="en-US" sz="800" u="none" cap="none" strike="noStrike">
                <a:solidFill>
                  <a:srgbClr val="3E566B"/>
                </a:solidFill>
                <a:latin typeface="Calibri"/>
                <a:ea typeface="Calibri"/>
                <a:cs typeface="Calibri"/>
                <a:sym typeface="Calibri"/>
              </a:rPr>
              <a:t>optaro.ai  ·  Confidential</a:t>
            </a:r>
            <a:endParaRPr b="0" i="0" sz="800" u="none" cap="none" strike="noStrike">
              <a:solidFill>
                <a:srgbClr val="000000"/>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80F"/>
        </a:solidFill>
      </p:bgPr>
    </p:bg>
    <p:spTree>
      <p:nvGrpSpPr>
        <p:cNvPr id="57" name="Shape 57"/>
        <p:cNvGrpSpPr/>
        <p:nvPr/>
      </p:nvGrpSpPr>
      <p:grpSpPr>
        <a:xfrm>
          <a:off x="0" y="0"/>
          <a:ext cx="0" cy="0"/>
          <a:chOff x="0" y="0"/>
          <a:chExt cx="0" cy="0"/>
        </a:xfrm>
      </p:grpSpPr>
      <p:sp>
        <p:nvSpPr>
          <p:cNvPr id="58" name="Google Shape;58;p2"/>
          <p:cNvSpPr/>
          <p:nvPr/>
        </p:nvSpPr>
        <p:spPr>
          <a:xfrm>
            <a:off x="0" y="0"/>
            <a:ext cx="9144000" cy="50292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 name="Google Shape;59;p2"/>
          <p:cNvSpPr/>
          <p:nvPr/>
        </p:nvSpPr>
        <p:spPr>
          <a:xfrm>
            <a:off x="320040" y="91440"/>
            <a:ext cx="320040" cy="320040"/>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2"/>
          <p:cNvSpPr/>
          <p:nvPr/>
        </p:nvSpPr>
        <p:spPr>
          <a:xfrm>
            <a:off x="713232" y="91440"/>
            <a:ext cx="1828800" cy="3200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1400"/>
              <a:buFont typeface="Calibri"/>
              <a:buNone/>
            </a:pPr>
            <a:r>
              <a:rPr b="1" i="0" lang="en-US" sz="1400" u="none" cap="none" strike="noStrike">
                <a:solidFill>
                  <a:srgbClr val="F0F7FF"/>
                </a:solidFill>
                <a:latin typeface="Calibri"/>
                <a:ea typeface="Calibri"/>
                <a:cs typeface="Calibri"/>
                <a:sym typeface="Calibri"/>
              </a:rPr>
              <a:t>Optaro</a:t>
            </a:r>
            <a:r>
              <a:rPr b="1" i="0" lang="en-US" sz="1400" u="none" cap="none" strike="noStrike">
                <a:solidFill>
                  <a:srgbClr val="00C9A7"/>
                </a:solidFill>
                <a:latin typeface="Calibri"/>
                <a:ea typeface="Calibri"/>
                <a:cs typeface="Calibri"/>
                <a:sym typeface="Calibri"/>
              </a:rPr>
              <a:t>.ai</a:t>
            </a:r>
            <a:endParaRPr b="0" i="0" sz="1400" u="none" cap="none" strike="noStrike">
              <a:solidFill>
                <a:srgbClr val="000000"/>
              </a:solidFill>
              <a:latin typeface="Calibri"/>
              <a:ea typeface="Calibri"/>
              <a:cs typeface="Calibri"/>
              <a:sym typeface="Calibri"/>
            </a:endParaRPr>
          </a:p>
        </p:txBody>
      </p:sp>
      <p:sp>
        <p:nvSpPr>
          <p:cNvPr id="61" name="Google Shape;61;p2"/>
          <p:cNvSpPr/>
          <p:nvPr/>
        </p:nvSpPr>
        <p:spPr>
          <a:xfrm>
            <a:off x="411480" y="658368"/>
            <a:ext cx="164592" cy="9144"/>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 name="Google Shape;62;p2"/>
          <p:cNvSpPr/>
          <p:nvPr/>
        </p:nvSpPr>
        <p:spPr>
          <a:xfrm>
            <a:off x="640080" y="594360"/>
            <a:ext cx="45720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900"/>
              <a:buFont typeface="Calibri"/>
              <a:buNone/>
            </a:pPr>
            <a:r>
              <a:rPr b="1" i="0" lang="en-US" sz="900" u="none" cap="none" strike="noStrike">
                <a:solidFill>
                  <a:srgbClr val="00C9A7"/>
                </a:solidFill>
                <a:latin typeface="Calibri"/>
                <a:ea typeface="Calibri"/>
                <a:cs typeface="Calibri"/>
                <a:sym typeface="Calibri"/>
              </a:rPr>
              <a:t>USE CASES</a:t>
            </a:r>
            <a:endParaRPr b="0" i="0" sz="900" u="none" cap="none" strike="noStrike">
              <a:solidFill>
                <a:srgbClr val="000000"/>
              </a:solidFill>
              <a:latin typeface="Calibri"/>
              <a:ea typeface="Calibri"/>
              <a:cs typeface="Calibri"/>
              <a:sym typeface="Calibri"/>
            </a:endParaRPr>
          </a:p>
        </p:txBody>
      </p:sp>
      <p:pic>
        <p:nvPicPr>
          <p:cNvPr id="63" name="Google Shape;63;p2"/>
          <p:cNvPicPr preferRelativeResize="0"/>
          <p:nvPr/>
        </p:nvPicPr>
        <p:blipFill>
          <a:blip r:embed="rId3">
            <a:alphaModFix/>
          </a:blip>
          <a:stretch>
            <a:fillRect/>
          </a:stretch>
        </p:blipFill>
        <p:spPr>
          <a:xfrm>
            <a:off x="0" y="91449"/>
            <a:ext cx="8989992" cy="50520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80F"/>
        </a:solidFill>
      </p:bgPr>
    </p:bg>
    <p:spTree>
      <p:nvGrpSpPr>
        <p:cNvPr id="68" name="Shape 68"/>
        <p:cNvGrpSpPr/>
        <p:nvPr/>
      </p:nvGrpSpPr>
      <p:grpSpPr>
        <a:xfrm>
          <a:off x="0" y="0"/>
          <a:ext cx="0" cy="0"/>
          <a:chOff x="0" y="0"/>
          <a:chExt cx="0" cy="0"/>
        </a:xfrm>
      </p:grpSpPr>
      <p:sp>
        <p:nvSpPr>
          <p:cNvPr id="69" name="Google Shape;69;p4"/>
          <p:cNvSpPr/>
          <p:nvPr/>
        </p:nvSpPr>
        <p:spPr>
          <a:xfrm>
            <a:off x="0" y="0"/>
            <a:ext cx="9144000" cy="45720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0" name="Google Shape;70;p4"/>
          <p:cNvSpPr/>
          <p:nvPr/>
        </p:nvSpPr>
        <p:spPr>
          <a:xfrm>
            <a:off x="292608" y="73152"/>
            <a:ext cx="310896" cy="310896"/>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1" name="Google Shape;71;p4"/>
          <p:cNvSpPr/>
          <p:nvPr/>
        </p:nvSpPr>
        <p:spPr>
          <a:xfrm>
            <a:off x="676656" y="82296"/>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1300"/>
              <a:buFont typeface="Calibri"/>
              <a:buNone/>
            </a:pPr>
            <a:r>
              <a:rPr b="1" i="0" lang="en-US" sz="1300" u="none" cap="none" strike="noStrike">
                <a:solidFill>
                  <a:srgbClr val="F0F7FF"/>
                </a:solidFill>
                <a:latin typeface="Calibri"/>
                <a:ea typeface="Calibri"/>
                <a:cs typeface="Calibri"/>
                <a:sym typeface="Calibri"/>
              </a:rPr>
              <a:t>Optaro</a:t>
            </a:r>
            <a:r>
              <a:rPr b="1" i="0" lang="en-US" sz="1300" u="none" cap="none" strike="noStrike">
                <a:solidFill>
                  <a:srgbClr val="00C9A7"/>
                </a:solidFill>
                <a:latin typeface="Calibri"/>
                <a:ea typeface="Calibri"/>
                <a:cs typeface="Calibri"/>
                <a:sym typeface="Calibri"/>
              </a:rPr>
              <a:t>.ai</a:t>
            </a:r>
            <a:endParaRPr b="0" i="0" sz="1300" u="none" cap="none" strike="noStrike">
              <a:solidFill>
                <a:srgbClr val="000000"/>
              </a:solidFill>
              <a:latin typeface="Calibri"/>
              <a:ea typeface="Calibri"/>
              <a:cs typeface="Calibri"/>
              <a:sym typeface="Calibri"/>
            </a:endParaRPr>
          </a:p>
        </p:txBody>
      </p:sp>
      <p:sp>
        <p:nvSpPr>
          <p:cNvPr id="72" name="Google Shape;72;p4"/>
          <p:cNvSpPr/>
          <p:nvPr/>
        </p:nvSpPr>
        <p:spPr>
          <a:xfrm>
            <a:off x="411480" y="603504"/>
            <a:ext cx="201168" cy="9144"/>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3" name="Google Shape;73;p4"/>
          <p:cNvSpPr/>
          <p:nvPr/>
        </p:nvSpPr>
        <p:spPr>
          <a:xfrm>
            <a:off x="685800" y="566928"/>
            <a:ext cx="45720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800"/>
              <a:buFont typeface="Calibri"/>
              <a:buNone/>
            </a:pPr>
            <a:r>
              <a:rPr b="1" i="0" lang="en-US" sz="800" u="none" cap="none" strike="noStrike">
                <a:solidFill>
                  <a:srgbClr val="00C9A7"/>
                </a:solidFill>
                <a:latin typeface="Calibri"/>
                <a:ea typeface="Calibri"/>
                <a:cs typeface="Calibri"/>
                <a:sym typeface="Calibri"/>
              </a:rPr>
              <a:t>WHO WE SERVE</a:t>
            </a:r>
            <a:endParaRPr b="0" i="0" sz="800" u="none" cap="none" strike="noStrike">
              <a:solidFill>
                <a:srgbClr val="000000"/>
              </a:solidFill>
              <a:latin typeface="Calibri"/>
              <a:ea typeface="Calibri"/>
              <a:cs typeface="Calibri"/>
              <a:sym typeface="Calibri"/>
            </a:endParaRPr>
          </a:p>
        </p:txBody>
      </p:sp>
      <p:sp>
        <p:nvSpPr>
          <p:cNvPr id="74" name="Google Shape;74;p4"/>
          <p:cNvSpPr/>
          <p:nvPr/>
        </p:nvSpPr>
        <p:spPr>
          <a:xfrm>
            <a:off x="411480" y="749808"/>
            <a:ext cx="8321040" cy="402336"/>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2200"/>
              <a:buFont typeface="Calibri"/>
              <a:buNone/>
            </a:pPr>
            <a:r>
              <a:rPr b="1" i="0" lang="en-US" sz="2200" u="none" cap="none" strike="noStrike">
                <a:solidFill>
                  <a:srgbClr val="F0F7FF"/>
                </a:solidFill>
                <a:latin typeface="Calibri"/>
                <a:ea typeface="Calibri"/>
                <a:cs typeface="Calibri"/>
                <a:sym typeface="Calibri"/>
              </a:rPr>
              <a:t>Built for complexity at </a:t>
            </a:r>
            <a:r>
              <a:rPr b="0" i="1" lang="en-US" sz="2200" u="none" cap="none" strike="noStrike">
                <a:solidFill>
                  <a:srgbClr val="00C9A7"/>
                </a:solidFill>
                <a:latin typeface="Georgia"/>
                <a:ea typeface="Georgia"/>
                <a:cs typeface="Georgia"/>
                <a:sym typeface="Georgia"/>
              </a:rPr>
              <a:t>every scale.</a:t>
            </a:r>
            <a:endParaRPr b="0" i="0" sz="2200" u="none" cap="none" strike="noStrike">
              <a:solidFill>
                <a:srgbClr val="000000"/>
              </a:solidFill>
              <a:latin typeface="Calibri"/>
              <a:ea typeface="Calibri"/>
              <a:cs typeface="Calibri"/>
              <a:sym typeface="Calibri"/>
            </a:endParaRPr>
          </a:p>
        </p:txBody>
      </p:sp>
      <p:sp>
        <p:nvSpPr>
          <p:cNvPr id="75" name="Google Shape;75;p4"/>
          <p:cNvSpPr/>
          <p:nvPr/>
        </p:nvSpPr>
        <p:spPr>
          <a:xfrm>
            <a:off x="411480" y="1188720"/>
            <a:ext cx="8321040" cy="27432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718DA8"/>
              </a:buClr>
              <a:buSzPts val="950"/>
              <a:buFont typeface="Calibri"/>
              <a:buNone/>
            </a:pPr>
            <a:r>
              <a:rPr b="0" i="0" lang="en-US" sz="950" u="none" cap="none" strike="noStrike">
                <a:solidFill>
                  <a:srgbClr val="718DA8"/>
                </a:solidFill>
                <a:latin typeface="Calibri"/>
                <a:ea typeface="Calibri"/>
                <a:cs typeface="Calibri"/>
                <a:sym typeface="Calibri"/>
              </a:rPr>
              <a:t>From $50M to $5B+ revenue — with a particular fit for businesses that need enterprise-grade supply chain without the enterprise implementation cost or timeline.</a:t>
            </a:r>
            <a:endParaRPr b="0" i="0" sz="950" u="none" cap="none" strike="noStrike">
              <a:solidFill>
                <a:srgbClr val="000000"/>
              </a:solidFill>
              <a:latin typeface="Calibri"/>
              <a:ea typeface="Calibri"/>
              <a:cs typeface="Calibri"/>
              <a:sym typeface="Calibri"/>
            </a:endParaRPr>
          </a:p>
        </p:txBody>
      </p:sp>
      <p:sp>
        <p:nvSpPr>
          <p:cNvPr id="76" name="Google Shape;76;p4"/>
          <p:cNvSpPr/>
          <p:nvPr/>
        </p:nvSpPr>
        <p:spPr>
          <a:xfrm>
            <a:off x="732626" y="1472409"/>
            <a:ext cx="3934933" cy="3063240"/>
          </a:xfrm>
          <a:prstGeom prst="rect">
            <a:avLst/>
          </a:prstGeom>
          <a:solidFill>
            <a:srgbClr val="0A1220"/>
          </a:solidFill>
          <a:ln cap="flat" cmpd="sng" w="9525">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7" name="Google Shape;77;p4"/>
          <p:cNvSpPr/>
          <p:nvPr/>
        </p:nvSpPr>
        <p:spPr>
          <a:xfrm>
            <a:off x="732627" y="1472409"/>
            <a:ext cx="1600200" cy="36576"/>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8" name="Google Shape;78;p4"/>
          <p:cNvSpPr/>
          <p:nvPr/>
        </p:nvSpPr>
        <p:spPr>
          <a:xfrm>
            <a:off x="1532727" y="1575558"/>
            <a:ext cx="1417320" cy="173736"/>
          </a:xfrm>
          <a:prstGeom prst="rect">
            <a:avLst/>
          </a:prstGeom>
          <a:solidFill>
            <a:srgbClr val="062E28"/>
          </a:solidFill>
          <a:ln cap="flat" cmpd="sng" w="9525">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79" name="Google Shape;79;p4"/>
          <p:cNvSpPr/>
          <p:nvPr/>
        </p:nvSpPr>
        <p:spPr>
          <a:xfrm>
            <a:off x="1532727" y="1575558"/>
            <a:ext cx="1417320" cy="1737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650"/>
              <a:buFont typeface="Calibri"/>
              <a:buNone/>
            </a:pPr>
            <a:r>
              <a:rPr b="1" i="0" lang="en-US" sz="650" u="none" cap="none" strike="noStrike">
                <a:solidFill>
                  <a:srgbClr val="00C9A7"/>
                </a:solidFill>
                <a:latin typeface="Calibri"/>
                <a:ea typeface="Calibri"/>
                <a:cs typeface="Calibri"/>
                <a:sym typeface="Calibri"/>
              </a:rPr>
              <a:t>$50M – $500M</a:t>
            </a:r>
            <a:endParaRPr b="0" i="0" sz="650" u="none" cap="none" strike="noStrike">
              <a:solidFill>
                <a:srgbClr val="000000"/>
              </a:solidFill>
              <a:latin typeface="Calibri"/>
              <a:ea typeface="Calibri"/>
              <a:cs typeface="Calibri"/>
              <a:sym typeface="Calibri"/>
            </a:endParaRPr>
          </a:p>
        </p:txBody>
      </p:sp>
      <p:sp>
        <p:nvSpPr>
          <p:cNvPr id="80" name="Google Shape;80;p4"/>
          <p:cNvSpPr/>
          <p:nvPr/>
        </p:nvSpPr>
        <p:spPr>
          <a:xfrm>
            <a:off x="1936587" y="1797021"/>
            <a:ext cx="14173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1100"/>
              <a:buFont typeface="Calibri"/>
              <a:buNone/>
            </a:pPr>
            <a:r>
              <a:rPr b="1" i="0" lang="en-US" sz="1100" u="none" cap="none" strike="noStrike">
                <a:solidFill>
                  <a:srgbClr val="F0F7FF"/>
                </a:solidFill>
                <a:latin typeface="Calibri"/>
                <a:ea typeface="Calibri"/>
                <a:cs typeface="Calibri"/>
                <a:sym typeface="Calibri"/>
              </a:rPr>
              <a:t>Mid-Market</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F0F7FF"/>
              </a:buClr>
              <a:buSzPts val="1100"/>
              <a:buFont typeface="Calibri"/>
              <a:buNone/>
            </a:pPr>
            <a:r>
              <a:rPr b="1" i="0" lang="en-US" sz="1100" u="none" cap="none" strike="noStrike">
                <a:solidFill>
                  <a:srgbClr val="F0F7FF"/>
                </a:solidFill>
                <a:latin typeface="Calibri"/>
                <a:ea typeface="Calibri"/>
                <a:cs typeface="Calibri"/>
                <a:sym typeface="Calibri"/>
              </a:rPr>
              <a:t>Operators</a:t>
            </a:r>
            <a:endParaRPr b="0" i="0" sz="1100" u="none" cap="none" strike="noStrike">
              <a:solidFill>
                <a:srgbClr val="000000"/>
              </a:solidFill>
              <a:latin typeface="Calibri"/>
              <a:ea typeface="Calibri"/>
              <a:cs typeface="Calibri"/>
              <a:sym typeface="Calibri"/>
            </a:endParaRPr>
          </a:p>
        </p:txBody>
      </p:sp>
      <p:sp>
        <p:nvSpPr>
          <p:cNvPr id="81" name="Google Shape;81;p4"/>
          <p:cNvSpPr/>
          <p:nvPr/>
        </p:nvSpPr>
        <p:spPr>
          <a:xfrm>
            <a:off x="824067" y="2551401"/>
            <a:ext cx="1417320" cy="9144"/>
          </a:xfrm>
          <a:prstGeom prst="rect">
            <a:avLst/>
          </a:prstGeom>
          <a:solidFill>
            <a:srgbClr val="1C2E42"/>
          </a:solidFill>
          <a:ln cap="flat" cmpd="sng" w="12700">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2" name="Google Shape;82;p4"/>
          <p:cNvSpPr/>
          <p:nvPr/>
        </p:nvSpPr>
        <p:spPr>
          <a:xfrm>
            <a:off x="834595" y="3062079"/>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3" name="Google Shape;83;p4"/>
          <p:cNvSpPr/>
          <p:nvPr/>
        </p:nvSpPr>
        <p:spPr>
          <a:xfrm>
            <a:off x="1003069" y="2898873"/>
            <a:ext cx="1648137"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500–50K SKUs, 1–10 locations</a:t>
            </a:r>
            <a:endParaRPr b="0" i="0" sz="800" u="none" cap="none" strike="noStrike">
              <a:solidFill>
                <a:srgbClr val="000000"/>
              </a:solidFill>
              <a:latin typeface="Calibri"/>
              <a:ea typeface="Calibri"/>
              <a:cs typeface="Calibri"/>
              <a:sym typeface="Calibri"/>
            </a:endParaRPr>
          </a:p>
        </p:txBody>
      </p:sp>
      <p:sp>
        <p:nvSpPr>
          <p:cNvPr id="84" name="Google Shape;84;p4"/>
          <p:cNvSpPr/>
          <p:nvPr/>
        </p:nvSpPr>
        <p:spPr>
          <a:xfrm>
            <a:off x="829330" y="3368767"/>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5" name="Google Shape;85;p4"/>
          <p:cNvSpPr/>
          <p:nvPr/>
        </p:nvSpPr>
        <p:spPr>
          <a:xfrm>
            <a:off x="1003068" y="3209769"/>
            <a:ext cx="1648138"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NetSuite, Dynamics or mid-market SAP</a:t>
            </a:r>
            <a:endParaRPr b="0" i="0" sz="800" u="none" cap="none" strike="noStrike">
              <a:solidFill>
                <a:srgbClr val="000000"/>
              </a:solidFill>
              <a:latin typeface="Calibri"/>
              <a:ea typeface="Calibri"/>
              <a:cs typeface="Calibri"/>
              <a:sym typeface="Calibri"/>
            </a:endParaRPr>
          </a:p>
        </p:txBody>
      </p:sp>
      <p:sp>
        <p:nvSpPr>
          <p:cNvPr id="86" name="Google Shape;86;p4"/>
          <p:cNvSpPr/>
          <p:nvPr/>
        </p:nvSpPr>
        <p:spPr>
          <a:xfrm>
            <a:off x="829330" y="3807679"/>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7" name="Google Shape;87;p4"/>
          <p:cNvSpPr/>
          <p:nvPr/>
        </p:nvSpPr>
        <p:spPr>
          <a:xfrm>
            <a:off x="1003068" y="3648681"/>
            <a:ext cx="1765902"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SC excellence without 12-month project</a:t>
            </a:r>
            <a:endParaRPr b="0" i="0" sz="800" u="none" cap="none" strike="noStrike">
              <a:solidFill>
                <a:srgbClr val="000000"/>
              </a:solidFill>
              <a:latin typeface="Calibri"/>
              <a:ea typeface="Calibri"/>
              <a:cs typeface="Calibri"/>
              <a:sym typeface="Calibri"/>
            </a:endParaRPr>
          </a:p>
        </p:txBody>
      </p:sp>
      <p:sp>
        <p:nvSpPr>
          <p:cNvPr id="88" name="Google Shape;88;p4"/>
          <p:cNvSpPr/>
          <p:nvPr/>
        </p:nvSpPr>
        <p:spPr>
          <a:xfrm>
            <a:off x="829330" y="4246591"/>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89" name="Google Shape;89;p4"/>
          <p:cNvSpPr/>
          <p:nvPr/>
        </p:nvSpPr>
        <p:spPr>
          <a:xfrm>
            <a:off x="1003068" y="4087593"/>
            <a:ext cx="1648138"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Enterprise AI, fraction of the cost</a:t>
            </a:r>
            <a:endParaRPr b="0" i="0" sz="800" u="none" cap="none" strike="noStrike">
              <a:solidFill>
                <a:srgbClr val="000000"/>
              </a:solidFill>
              <a:latin typeface="Calibri"/>
              <a:ea typeface="Calibri"/>
              <a:cs typeface="Calibri"/>
              <a:sym typeface="Calibri"/>
            </a:endParaRPr>
          </a:p>
        </p:txBody>
      </p:sp>
      <p:sp>
        <p:nvSpPr>
          <p:cNvPr id="90" name="Google Shape;90;p4"/>
          <p:cNvSpPr/>
          <p:nvPr/>
        </p:nvSpPr>
        <p:spPr>
          <a:xfrm>
            <a:off x="4841298" y="1472409"/>
            <a:ext cx="3644611" cy="3063240"/>
          </a:xfrm>
          <a:prstGeom prst="rect">
            <a:avLst/>
          </a:prstGeom>
          <a:solidFill>
            <a:srgbClr val="0A1220"/>
          </a:solidFill>
          <a:ln cap="flat" cmpd="sng" w="9525">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1" name="Google Shape;91;p4"/>
          <p:cNvSpPr/>
          <p:nvPr/>
        </p:nvSpPr>
        <p:spPr>
          <a:xfrm>
            <a:off x="5304627" y="1472409"/>
            <a:ext cx="1600200" cy="36576"/>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2" name="Google Shape;92;p4"/>
          <p:cNvSpPr/>
          <p:nvPr/>
        </p:nvSpPr>
        <p:spPr>
          <a:xfrm>
            <a:off x="6104727" y="1575558"/>
            <a:ext cx="1417320" cy="173736"/>
          </a:xfrm>
          <a:prstGeom prst="rect">
            <a:avLst/>
          </a:prstGeom>
          <a:solidFill>
            <a:srgbClr val="062E28"/>
          </a:solidFill>
          <a:ln cap="flat" cmpd="sng" w="9525">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3" name="Google Shape;93;p4"/>
          <p:cNvSpPr/>
          <p:nvPr/>
        </p:nvSpPr>
        <p:spPr>
          <a:xfrm>
            <a:off x="6104727" y="1575558"/>
            <a:ext cx="1417320" cy="173736"/>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650"/>
              <a:buFont typeface="Calibri"/>
              <a:buNone/>
            </a:pPr>
            <a:r>
              <a:rPr b="1" i="0" lang="en-US" sz="650" u="none" cap="none" strike="noStrike">
                <a:solidFill>
                  <a:srgbClr val="00C9A7"/>
                </a:solidFill>
                <a:latin typeface="Calibri"/>
                <a:ea typeface="Calibri"/>
                <a:cs typeface="Calibri"/>
                <a:sym typeface="Calibri"/>
              </a:rPr>
              <a:t>$500M – $5B+</a:t>
            </a:r>
            <a:endParaRPr b="0" i="0" sz="650" u="none" cap="none" strike="noStrike">
              <a:solidFill>
                <a:srgbClr val="000000"/>
              </a:solidFill>
              <a:latin typeface="Calibri"/>
              <a:ea typeface="Calibri"/>
              <a:cs typeface="Calibri"/>
              <a:sym typeface="Calibri"/>
            </a:endParaRPr>
          </a:p>
        </p:txBody>
      </p:sp>
      <p:sp>
        <p:nvSpPr>
          <p:cNvPr id="94" name="Google Shape;94;p4"/>
          <p:cNvSpPr/>
          <p:nvPr/>
        </p:nvSpPr>
        <p:spPr>
          <a:xfrm>
            <a:off x="6508587" y="1797021"/>
            <a:ext cx="1417320" cy="457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1100"/>
              <a:buFont typeface="Calibri"/>
              <a:buNone/>
            </a:pPr>
            <a:r>
              <a:rPr b="1" i="0" lang="en-US" sz="1100" u="none" cap="none" strike="noStrike">
                <a:solidFill>
                  <a:srgbClr val="F0F7FF"/>
                </a:solidFill>
                <a:latin typeface="Calibri"/>
                <a:ea typeface="Calibri"/>
                <a:cs typeface="Calibri"/>
                <a:sym typeface="Calibri"/>
              </a:rPr>
              <a:t>Enterprise</a:t>
            </a:r>
            <a:endParaRPr b="0" i="0" sz="11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F0F7FF"/>
              </a:buClr>
              <a:buSzPts val="1100"/>
              <a:buFont typeface="Calibri"/>
              <a:buNone/>
            </a:pPr>
            <a:r>
              <a:rPr b="1" i="0" lang="en-US" sz="1100" u="none" cap="none" strike="noStrike">
                <a:solidFill>
                  <a:srgbClr val="F0F7FF"/>
                </a:solidFill>
                <a:latin typeface="Calibri"/>
                <a:ea typeface="Calibri"/>
                <a:cs typeface="Calibri"/>
                <a:sym typeface="Calibri"/>
              </a:rPr>
              <a:t>Leaders</a:t>
            </a:r>
            <a:endParaRPr b="0" i="0" sz="1100" u="none" cap="none" strike="noStrike">
              <a:solidFill>
                <a:srgbClr val="000000"/>
              </a:solidFill>
              <a:latin typeface="Calibri"/>
              <a:ea typeface="Calibri"/>
              <a:cs typeface="Calibri"/>
              <a:sym typeface="Calibri"/>
            </a:endParaRPr>
          </a:p>
        </p:txBody>
      </p:sp>
      <p:sp>
        <p:nvSpPr>
          <p:cNvPr id="95" name="Google Shape;95;p4"/>
          <p:cNvSpPr/>
          <p:nvPr/>
        </p:nvSpPr>
        <p:spPr>
          <a:xfrm>
            <a:off x="5332059" y="2923578"/>
            <a:ext cx="1417320" cy="9144"/>
          </a:xfrm>
          <a:prstGeom prst="rect">
            <a:avLst/>
          </a:prstGeom>
          <a:solidFill>
            <a:srgbClr val="1C2E42"/>
          </a:solidFill>
          <a:ln cap="flat" cmpd="sng" w="12700">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6" name="Google Shape;96;p4"/>
          <p:cNvSpPr/>
          <p:nvPr/>
        </p:nvSpPr>
        <p:spPr>
          <a:xfrm>
            <a:off x="5332059" y="3013173"/>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7" name="Google Shape;97;p4"/>
          <p:cNvSpPr/>
          <p:nvPr/>
        </p:nvSpPr>
        <p:spPr>
          <a:xfrm>
            <a:off x="5478363" y="2857725"/>
            <a:ext cx="1758974"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SAP, Oracle, OMP, Kinaxis, o9</a:t>
            </a:r>
            <a:endParaRPr b="0" i="0" sz="800" u="none" cap="none" strike="noStrike">
              <a:solidFill>
                <a:srgbClr val="000000"/>
              </a:solidFill>
              <a:latin typeface="Calibri"/>
              <a:ea typeface="Calibri"/>
              <a:cs typeface="Calibri"/>
              <a:sym typeface="Calibri"/>
            </a:endParaRPr>
          </a:p>
        </p:txBody>
      </p:sp>
      <p:sp>
        <p:nvSpPr>
          <p:cNvPr id="98" name="Google Shape;98;p4"/>
          <p:cNvSpPr/>
          <p:nvPr/>
        </p:nvSpPr>
        <p:spPr>
          <a:xfrm>
            <a:off x="5332059" y="3452085"/>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99" name="Google Shape;99;p4"/>
          <p:cNvSpPr/>
          <p:nvPr/>
        </p:nvSpPr>
        <p:spPr>
          <a:xfrm>
            <a:off x="5478363" y="3296637"/>
            <a:ext cx="1758974"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Working capital $50M+ in network</a:t>
            </a:r>
            <a:endParaRPr b="0" i="0" sz="800" u="none" cap="none" strike="noStrike">
              <a:solidFill>
                <a:srgbClr val="000000"/>
              </a:solidFill>
              <a:latin typeface="Calibri"/>
              <a:ea typeface="Calibri"/>
              <a:cs typeface="Calibri"/>
              <a:sym typeface="Calibri"/>
            </a:endParaRPr>
          </a:p>
        </p:txBody>
      </p:sp>
      <p:sp>
        <p:nvSpPr>
          <p:cNvPr id="100" name="Google Shape;100;p4"/>
          <p:cNvSpPr/>
          <p:nvPr/>
        </p:nvSpPr>
        <p:spPr>
          <a:xfrm>
            <a:off x="5332059" y="3890997"/>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1" name="Google Shape;101;p4"/>
          <p:cNvSpPr/>
          <p:nvPr/>
        </p:nvSpPr>
        <p:spPr>
          <a:xfrm>
            <a:off x="5478363" y="3735549"/>
            <a:ext cx="1758974"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Reduce planner exceptions by 70%+</a:t>
            </a:r>
            <a:endParaRPr b="0" i="0" sz="800" u="none" cap="none" strike="noStrike">
              <a:solidFill>
                <a:srgbClr val="000000"/>
              </a:solidFill>
              <a:latin typeface="Calibri"/>
              <a:ea typeface="Calibri"/>
              <a:cs typeface="Calibri"/>
              <a:sym typeface="Calibri"/>
            </a:endParaRPr>
          </a:p>
        </p:txBody>
      </p:sp>
      <p:sp>
        <p:nvSpPr>
          <p:cNvPr id="102" name="Google Shape;102;p4"/>
          <p:cNvSpPr/>
          <p:nvPr/>
        </p:nvSpPr>
        <p:spPr>
          <a:xfrm>
            <a:off x="5332059" y="4329909"/>
            <a:ext cx="82296" cy="82296"/>
          </a:xfrm>
          <a:prstGeom prst="ellipse">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3" name="Google Shape;103;p4"/>
          <p:cNvSpPr/>
          <p:nvPr/>
        </p:nvSpPr>
        <p:spPr>
          <a:xfrm>
            <a:off x="5478363" y="4174461"/>
            <a:ext cx="1758974" cy="402336"/>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718DA8"/>
              </a:buClr>
              <a:buSzPts val="800"/>
              <a:buFont typeface="Calibri"/>
              <a:buNone/>
            </a:pPr>
            <a:r>
              <a:rPr b="0" i="0" lang="en-US" sz="800" u="none" cap="none" strike="noStrike">
                <a:solidFill>
                  <a:srgbClr val="718DA8"/>
                </a:solidFill>
                <a:latin typeface="Calibri"/>
                <a:ea typeface="Calibri"/>
                <a:cs typeface="Calibri"/>
                <a:sym typeface="Calibri"/>
              </a:rPr>
              <a:t>CFO-connected supply chain reporting</a:t>
            </a:r>
            <a:endParaRPr b="0" i="0" sz="800" u="none" cap="none" strike="noStrike">
              <a:solidFill>
                <a:srgbClr val="000000"/>
              </a:solidFill>
              <a:latin typeface="Calibri"/>
              <a:ea typeface="Calibri"/>
              <a:cs typeface="Calibri"/>
              <a:sym typeface="Calibri"/>
            </a:endParaRPr>
          </a:p>
        </p:txBody>
      </p:sp>
      <p:sp>
        <p:nvSpPr>
          <p:cNvPr id="104" name="Google Shape;104;p4"/>
          <p:cNvSpPr/>
          <p:nvPr/>
        </p:nvSpPr>
        <p:spPr>
          <a:xfrm>
            <a:off x="0" y="4846320"/>
            <a:ext cx="9144000" cy="29718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5" name="Google Shape;105;p4"/>
          <p:cNvSpPr/>
          <p:nvPr/>
        </p:nvSpPr>
        <p:spPr>
          <a:xfrm>
            <a:off x="320040" y="4864608"/>
            <a:ext cx="4572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E566B"/>
              </a:buClr>
              <a:buSzPts val="800"/>
              <a:buFont typeface="Calibri"/>
              <a:buNone/>
            </a:pPr>
            <a:r>
              <a:rPr b="0" i="0" lang="en-US" sz="800" u="none" cap="none" strike="noStrike">
                <a:solidFill>
                  <a:srgbClr val="3E566B"/>
                </a:solidFill>
                <a:latin typeface="Calibri"/>
                <a:ea typeface="Calibri"/>
                <a:cs typeface="Calibri"/>
                <a:sym typeface="Calibri"/>
              </a:rPr>
              <a:t>Who We Serve · Optaro.ai</a:t>
            </a:r>
            <a:endParaRPr b="0" i="0" sz="800" u="none" cap="none" strike="noStrike">
              <a:solidFill>
                <a:srgbClr val="000000"/>
              </a:solidFill>
              <a:latin typeface="Calibri"/>
              <a:ea typeface="Calibri"/>
              <a:cs typeface="Calibri"/>
              <a:sym typeface="Calibri"/>
            </a:endParaRPr>
          </a:p>
        </p:txBody>
      </p:sp>
      <p:sp>
        <p:nvSpPr>
          <p:cNvPr id="106" name="Google Shape;106;p4"/>
          <p:cNvSpPr/>
          <p:nvPr/>
        </p:nvSpPr>
        <p:spPr>
          <a:xfrm>
            <a:off x="0" y="5125212"/>
            <a:ext cx="6096000" cy="18288"/>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07" name="Google Shape;107;p4"/>
          <p:cNvSpPr/>
          <p:nvPr/>
        </p:nvSpPr>
        <p:spPr>
          <a:xfrm>
            <a:off x="201467" y="4629854"/>
            <a:ext cx="1973022" cy="331302"/>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Partnered with Google Cloud</a:t>
            </a:r>
            <a:endParaRPr/>
          </a:p>
          <a:p>
            <a:pPr indent="0" lvl="0" marL="0" marR="0" rtl="0" algn="l">
              <a:lnSpc>
                <a:spcPct val="100000"/>
              </a:lnSpc>
              <a:spcBef>
                <a:spcPts val="400"/>
              </a:spcBef>
              <a:spcAft>
                <a:spcPts val="0"/>
              </a:spcAft>
              <a:buClr>
                <a:schemeClr val="dk1"/>
              </a:buClr>
              <a:buSzPts val="1100"/>
              <a:buFont typeface="Calibri"/>
              <a:buNone/>
            </a:pPr>
            <a:r>
              <a:t/>
            </a:r>
            <a:endParaRPr sz="1100">
              <a:solidFill>
                <a:schemeClr val="lt1"/>
              </a:solidFill>
              <a:latin typeface="Calibri"/>
              <a:ea typeface="Calibri"/>
              <a:cs typeface="Calibri"/>
              <a:sym typeface="Calibri"/>
            </a:endParaRPr>
          </a:p>
          <a:p>
            <a:pPr indent="0" lvl="0" marL="0" marR="0" rtl="0" algn="l">
              <a:lnSpc>
                <a:spcPct val="100000"/>
              </a:lnSpc>
              <a:spcBef>
                <a:spcPts val="400"/>
              </a:spcBef>
              <a:spcAft>
                <a:spcPts val="0"/>
              </a:spcAft>
              <a:buClr>
                <a:schemeClr val="dk1"/>
              </a:buClr>
              <a:buSzPts val="1100"/>
              <a:buFont typeface="Calibri"/>
              <a:buNone/>
            </a:pPr>
            <a:r>
              <a:t/>
            </a:r>
            <a:endParaRPr sz="1100">
              <a:solidFill>
                <a:schemeClr val="lt1"/>
              </a:solidFill>
              <a:latin typeface="Calibri"/>
              <a:ea typeface="Calibri"/>
              <a:cs typeface="Calibri"/>
              <a:sym typeface="Calibri"/>
            </a:endParaRPr>
          </a:p>
          <a:p>
            <a:pPr indent="0" lvl="0" marL="0" marR="0" rtl="0" algn="l">
              <a:lnSpc>
                <a:spcPct val="100000"/>
              </a:lnSpc>
              <a:spcBef>
                <a:spcPts val="400"/>
              </a:spcBef>
              <a:spcAft>
                <a:spcPts val="0"/>
              </a:spcAft>
              <a:buClr>
                <a:schemeClr val="dk1"/>
              </a:buClr>
              <a:buSzPts val="1100"/>
              <a:buFont typeface="Calibri"/>
              <a:buNone/>
            </a:pPr>
            <a:r>
              <a:t/>
            </a:r>
            <a:endParaRPr b="0" i="0" sz="1100" u="none" cap="none" strike="noStrike">
              <a:solidFill>
                <a:schemeClr val="lt1"/>
              </a:solidFill>
              <a:latin typeface="Calibri"/>
              <a:ea typeface="Calibri"/>
              <a:cs typeface="Calibri"/>
              <a:sym typeface="Calibri"/>
            </a:endParaRPr>
          </a:p>
        </p:txBody>
      </p:sp>
      <p:sp>
        <p:nvSpPr>
          <p:cNvPr id="108" name="Google Shape;108;p4"/>
          <p:cNvSpPr/>
          <p:nvPr/>
        </p:nvSpPr>
        <p:spPr>
          <a:xfrm>
            <a:off x="829330" y="2078961"/>
            <a:ext cx="3843492" cy="713232"/>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718DA8"/>
              </a:buClr>
              <a:buSzPts val="800"/>
              <a:buFont typeface="Calibri"/>
              <a:buNone/>
            </a:pPr>
            <a:r>
              <a:rPr lang="en-US" sz="800">
                <a:solidFill>
                  <a:srgbClr val="718DA8"/>
                </a:solidFill>
                <a:highlight>
                  <a:srgbClr val="FFFF00"/>
                </a:highlight>
                <a:latin typeface="Calibri"/>
                <a:ea typeface="Calibri"/>
                <a:cs typeface="Calibri"/>
                <a:sym typeface="Calibri"/>
              </a:rPr>
              <a:t>Mid-market manufacturers and distributors face a compounding problem: the supply chain has grown complex enough to demand enterprise-grade AI — but the budget, timeline, and IT capacity for a monolithic implementation are nowhere in sight.</a:t>
            </a:r>
            <a:endParaRPr sz="800">
              <a:solidFill>
                <a:schemeClr val="dk1"/>
              </a:solidFill>
              <a:highlight>
                <a:srgbClr val="FFFF00"/>
              </a:highlight>
              <a:latin typeface="Calibri"/>
              <a:ea typeface="Calibri"/>
              <a:cs typeface="Calibri"/>
              <a:sym typeface="Calibri"/>
            </a:endParaRPr>
          </a:p>
        </p:txBody>
      </p:sp>
      <p:sp>
        <p:nvSpPr>
          <p:cNvPr id="109" name="Google Shape;109;p4"/>
          <p:cNvSpPr/>
          <p:nvPr/>
        </p:nvSpPr>
        <p:spPr>
          <a:xfrm>
            <a:off x="829330" y="2980476"/>
            <a:ext cx="1417320" cy="9144"/>
          </a:xfrm>
          <a:prstGeom prst="rect">
            <a:avLst/>
          </a:prstGeom>
          <a:solidFill>
            <a:srgbClr val="1C2E42"/>
          </a:solidFill>
          <a:ln cap="flat" cmpd="sng" w="12700">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0" name="Google Shape;110;p4"/>
          <p:cNvSpPr/>
          <p:nvPr/>
        </p:nvSpPr>
        <p:spPr>
          <a:xfrm>
            <a:off x="4938002" y="2077404"/>
            <a:ext cx="3376668" cy="822960"/>
          </a:xfrm>
          <a:prstGeom prst="rect">
            <a:avLst/>
          </a:prstGeom>
          <a:noFill/>
          <a:ln>
            <a:noFill/>
          </a:ln>
        </p:spPr>
        <p:txBody>
          <a:bodyPr anchorCtr="0" anchor="ctr" bIns="0" lIns="0" spcFirstLastPara="1" rIns="0" wrap="square" tIns="0">
            <a:noAutofit/>
          </a:bodyPr>
          <a:lstStyle/>
          <a:p>
            <a:pPr indent="0" lvl="0" marL="0" marR="0" rtl="0" algn="l">
              <a:lnSpc>
                <a:spcPct val="145000"/>
              </a:lnSpc>
              <a:spcBef>
                <a:spcPts val="0"/>
              </a:spcBef>
              <a:spcAft>
                <a:spcPts val="0"/>
              </a:spcAft>
              <a:buClr>
                <a:srgbClr val="718DA8"/>
              </a:buClr>
              <a:buSzPts val="800"/>
              <a:buFont typeface="Calibri"/>
              <a:buNone/>
            </a:pPr>
            <a:r>
              <a:rPr lang="en-US" sz="800">
                <a:solidFill>
                  <a:srgbClr val="718DA8"/>
                </a:solidFill>
                <a:highlight>
                  <a:srgbClr val="FFFF00"/>
                </a:highlight>
                <a:latin typeface="Calibri"/>
                <a:ea typeface="Calibri"/>
                <a:cs typeface="Calibri"/>
                <a:sym typeface="Calibri"/>
              </a:rPr>
              <a:t>Enterprise supply chain leaders have invested heavily in planning platforms, ERP customisation, and analyst teams. The intelligence is there. What's missing is the layer that closes the loop between recommendation and action — autonomously, at the scale and speed global operations demand.</a:t>
            </a:r>
            <a:endParaRPr sz="800">
              <a:solidFill>
                <a:schemeClr val="dk1"/>
              </a:solidFill>
              <a:highlight>
                <a:srgbClr val="FFFF00"/>
              </a:highlight>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80F"/>
        </a:solidFill>
      </p:bgPr>
    </p:bg>
    <p:spTree>
      <p:nvGrpSpPr>
        <p:cNvPr id="115" name="Shape 115"/>
        <p:cNvGrpSpPr/>
        <p:nvPr/>
      </p:nvGrpSpPr>
      <p:grpSpPr>
        <a:xfrm>
          <a:off x="0" y="0"/>
          <a:ext cx="0" cy="0"/>
          <a:chOff x="0" y="0"/>
          <a:chExt cx="0" cy="0"/>
        </a:xfrm>
      </p:grpSpPr>
      <p:sp>
        <p:nvSpPr>
          <p:cNvPr id="116" name="Google Shape;116;p6"/>
          <p:cNvSpPr/>
          <p:nvPr/>
        </p:nvSpPr>
        <p:spPr>
          <a:xfrm>
            <a:off x="0" y="0"/>
            <a:ext cx="9144000" cy="45720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7" name="Google Shape;117;p6"/>
          <p:cNvSpPr/>
          <p:nvPr/>
        </p:nvSpPr>
        <p:spPr>
          <a:xfrm>
            <a:off x="292608" y="73152"/>
            <a:ext cx="310896" cy="310896"/>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18" name="Google Shape;118;p6"/>
          <p:cNvSpPr/>
          <p:nvPr/>
        </p:nvSpPr>
        <p:spPr>
          <a:xfrm>
            <a:off x="676656" y="82296"/>
            <a:ext cx="182880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1300"/>
              <a:buFont typeface="Calibri"/>
              <a:buNone/>
            </a:pPr>
            <a:r>
              <a:rPr b="1" i="0" lang="en-US" sz="1300" u="none" cap="none" strike="noStrike">
                <a:solidFill>
                  <a:srgbClr val="F0F7FF"/>
                </a:solidFill>
                <a:latin typeface="Calibri"/>
                <a:ea typeface="Calibri"/>
                <a:cs typeface="Calibri"/>
                <a:sym typeface="Calibri"/>
              </a:rPr>
              <a:t>Optaro</a:t>
            </a:r>
            <a:r>
              <a:rPr b="1" i="0" lang="en-US" sz="1300" u="none" cap="none" strike="noStrike">
                <a:solidFill>
                  <a:srgbClr val="00C9A7"/>
                </a:solidFill>
                <a:latin typeface="Calibri"/>
                <a:ea typeface="Calibri"/>
                <a:cs typeface="Calibri"/>
                <a:sym typeface="Calibri"/>
              </a:rPr>
              <a:t>.ai</a:t>
            </a:r>
            <a:endParaRPr b="0" i="0" sz="1300" u="none" cap="none" strike="noStrike">
              <a:solidFill>
                <a:srgbClr val="000000"/>
              </a:solidFill>
              <a:latin typeface="Calibri"/>
              <a:ea typeface="Calibri"/>
              <a:cs typeface="Calibri"/>
              <a:sym typeface="Calibri"/>
            </a:endParaRPr>
          </a:p>
        </p:txBody>
      </p:sp>
      <p:sp>
        <p:nvSpPr>
          <p:cNvPr id="119" name="Google Shape;119;p6"/>
          <p:cNvSpPr/>
          <p:nvPr/>
        </p:nvSpPr>
        <p:spPr>
          <a:xfrm>
            <a:off x="411480" y="603504"/>
            <a:ext cx="201168" cy="9144"/>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0" name="Google Shape;120;p6"/>
          <p:cNvSpPr/>
          <p:nvPr/>
        </p:nvSpPr>
        <p:spPr>
          <a:xfrm>
            <a:off x="685800" y="566928"/>
            <a:ext cx="45720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800"/>
              <a:buFont typeface="Calibri"/>
              <a:buNone/>
            </a:pPr>
            <a:r>
              <a:rPr b="1" i="0" lang="en-US" sz="800" u="none" cap="none" strike="noStrike">
                <a:solidFill>
                  <a:srgbClr val="00C9A7"/>
                </a:solidFill>
                <a:latin typeface="Calibri"/>
                <a:ea typeface="Calibri"/>
                <a:cs typeface="Calibri"/>
                <a:sym typeface="Calibri"/>
              </a:rPr>
              <a:t>ABOUT OPTARO</a:t>
            </a:r>
            <a:endParaRPr b="0" i="0" sz="800" u="none" cap="none" strike="noStrike">
              <a:solidFill>
                <a:srgbClr val="000000"/>
              </a:solidFill>
              <a:latin typeface="Calibri"/>
              <a:ea typeface="Calibri"/>
              <a:cs typeface="Calibri"/>
              <a:sym typeface="Calibri"/>
            </a:endParaRPr>
          </a:p>
        </p:txBody>
      </p:sp>
      <p:sp>
        <p:nvSpPr>
          <p:cNvPr id="121" name="Google Shape;121;p6"/>
          <p:cNvSpPr/>
          <p:nvPr/>
        </p:nvSpPr>
        <p:spPr>
          <a:xfrm>
            <a:off x="320040" y="1481328"/>
            <a:ext cx="1874520" cy="36576"/>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2" name="Google Shape;122;p6"/>
          <p:cNvSpPr/>
          <p:nvPr/>
        </p:nvSpPr>
        <p:spPr>
          <a:xfrm>
            <a:off x="320040" y="2510028"/>
            <a:ext cx="1874520" cy="256032"/>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0F7FF"/>
              </a:buClr>
              <a:buSzPts val="1300"/>
              <a:buFont typeface="Calibri"/>
              <a:buNone/>
            </a:pPr>
            <a:r>
              <a:rPr b="1" i="0" lang="en-US" sz="1300" u="none" cap="none" strike="noStrike">
                <a:solidFill>
                  <a:srgbClr val="F0F7FF"/>
                </a:solidFill>
                <a:latin typeface="Calibri"/>
                <a:ea typeface="Calibri"/>
                <a:cs typeface="Calibri"/>
                <a:sym typeface="Calibri"/>
              </a:rPr>
              <a:t>Mark Robinson</a:t>
            </a:r>
            <a:endParaRPr b="0" i="0" sz="1300" u="none" cap="none" strike="noStrike">
              <a:solidFill>
                <a:srgbClr val="000000"/>
              </a:solidFill>
              <a:latin typeface="Calibri"/>
              <a:ea typeface="Calibri"/>
              <a:cs typeface="Calibri"/>
              <a:sym typeface="Calibri"/>
            </a:endParaRPr>
          </a:p>
        </p:txBody>
      </p:sp>
      <p:sp>
        <p:nvSpPr>
          <p:cNvPr id="123" name="Google Shape;123;p6"/>
          <p:cNvSpPr/>
          <p:nvPr/>
        </p:nvSpPr>
        <p:spPr>
          <a:xfrm>
            <a:off x="320040" y="2747772"/>
            <a:ext cx="1874520" cy="18288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C9A7"/>
              </a:buClr>
              <a:buSzPts val="800"/>
              <a:buFont typeface="Calibri"/>
              <a:buNone/>
            </a:pPr>
            <a:r>
              <a:rPr b="0" i="0" lang="en-US" sz="800" u="none" cap="none" strike="noStrike">
                <a:solidFill>
                  <a:srgbClr val="00C9A7"/>
                </a:solidFill>
                <a:latin typeface="Calibri"/>
                <a:ea typeface="Calibri"/>
                <a:cs typeface="Calibri"/>
                <a:sym typeface="Calibri"/>
              </a:rPr>
              <a:t>Founder &amp; CEO · Optaro.ai</a:t>
            </a:r>
            <a:endParaRPr b="0" i="0" sz="800" u="none" cap="none" strike="noStrike">
              <a:solidFill>
                <a:srgbClr val="000000"/>
              </a:solidFill>
              <a:latin typeface="Calibri"/>
              <a:ea typeface="Calibri"/>
              <a:cs typeface="Calibri"/>
              <a:sym typeface="Calibri"/>
            </a:endParaRPr>
          </a:p>
        </p:txBody>
      </p:sp>
      <p:sp>
        <p:nvSpPr>
          <p:cNvPr id="124" name="Google Shape;124;p6"/>
          <p:cNvSpPr/>
          <p:nvPr/>
        </p:nvSpPr>
        <p:spPr>
          <a:xfrm>
            <a:off x="320040" y="2985516"/>
            <a:ext cx="886968" cy="192024"/>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5" name="Google Shape;125;p6"/>
          <p:cNvSpPr/>
          <p:nvPr/>
        </p:nvSpPr>
        <p:spPr>
          <a:xfrm>
            <a:off x="320040" y="2985516"/>
            <a:ext cx="88696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8DA8"/>
              </a:buClr>
              <a:buSzPts val="700"/>
              <a:buFont typeface="Calibri"/>
              <a:buNone/>
            </a:pPr>
            <a:r>
              <a:rPr b="0" i="0" lang="en-US" sz="700" u="none" cap="none" strike="noStrike">
                <a:solidFill>
                  <a:srgbClr val="718DA8"/>
                </a:solidFill>
                <a:latin typeface="Calibri"/>
                <a:ea typeface="Calibri"/>
                <a:cs typeface="Calibri"/>
                <a:sym typeface="Calibri"/>
              </a:rPr>
              <a:t>CFO / CSCO</a:t>
            </a:r>
            <a:endParaRPr b="0" i="0" sz="700" u="none" cap="none" strike="noStrike">
              <a:solidFill>
                <a:srgbClr val="000000"/>
              </a:solidFill>
              <a:latin typeface="Calibri"/>
              <a:ea typeface="Calibri"/>
              <a:cs typeface="Calibri"/>
              <a:sym typeface="Calibri"/>
            </a:endParaRPr>
          </a:p>
        </p:txBody>
      </p:sp>
      <p:sp>
        <p:nvSpPr>
          <p:cNvPr id="126" name="Google Shape;126;p6"/>
          <p:cNvSpPr/>
          <p:nvPr/>
        </p:nvSpPr>
        <p:spPr>
          <a:xfrm>
            <a:off x="1280160" y="2985516"/>
            <a:ext cx="886968" cy="192024"/>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7" name="Google Shape;127;p6"/>
          <p:cNvSpPr/>
          <p:nvPr/>
        </p:nvSpPr>
        <p:spPr>
          <a:xfrm>
            <a:off x="1280160" y="2985516"/>
            <a:ext cx="88696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8DA8"/>
              </a:buClr>
              <a:buSzPts val="700"/>
              <a:buFont typeface="Calibri"/>
              <a:buNone/>
            </a:pPr>
            <a:r>
              <a:rPr b="0" i="0" lang="en-US" sz="700" u="none" cap="none" strike="noStrike">
                <a:solidFill>
                  <a:srgbClr val="718DA8"/>
                </a:solidFill>
                <a:latin typeface="Calibri"/>
                <a:ea typeface="Calibri"/>
                <a:cs typeface="Calibri"/>
                <a:sym typeface="Calibri"/>
              </a:rPr>
              <a:t>VP Digital &amp; AI</a:t>
            </a:r>
            <a:endParaRPr b="0" i="0" sz="700" u="none" cap="none" strike="noStrike">
              <a:solidFill>
                <a:srgbClr val="000000"/>
              </a:solidFill>
              <a:latin typeface="Calibri"/>
              <a:ea typeface="Calibri"/>
              <a:cs typeface="Calibri"/>
              <a:sym typeface="Calibri"/>
            </a:endParaRPr>
          </a:p>
        </p:txBody>
      </p:sp>
      <p:sp>
        <p:nvSpPr>
          <p:cNvPr id="128" name="Google Shape;128;p6"/>
          <p:cNvSpPr/>
          <p:nvPr/>
        </p:nvSpPr>
        <p:spPr>
          <a:xfrm>
            <a:off x="320040" y="3223260"/>
            <a:ext cx="886968" cy="192024"/>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29" name="Google Shape;129;p6"/>
          <p:cNvSpPr/>
          <p:nvPr/>
        </p:nvSpPr>
        <p:spPr>
          <a:xfrm>
            <a:off x="320040" y="3223260"/>
            <a:ext cx="88696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8DA8"/>
              </a:buClr>
              <a:buSzPts val="700"/>
              <a:buFont typeface="Calibri"/>
              <a:buNone/>
            </a:pPr>
            <a:r>
              <a:rPr b="0" i="0" lang="en-US" sz="700" u="none" cap="none" strike="noStrike">
                <a:solidFill>
                  <a:srgbClr val="718DA8"/>
                </a:solidFill>
                <a:latin typeface="Calibri"/>
                <a:ea typeface="Calibri"/>
                <a:cs typeface="Calibri"/>
                <a:sym typeface="Calibri"/>
              </a:rPr>
              <a:t>PwC Director</a:t>
            </a:r>
            <a:endParaRPr b="0" i="0" sz="700" u="none" cap="none" strike="noStrike">
              <a:solidFill>
                <a:srgbClr val="000000"/>
              </a:solidFill>
              <a:latin typeface="Calibri"/>
              <a:ea typeface="Calibri"/>
              <a:cs typeface="Calibri"/>
              <a:sym typeface="Calibri"/>
            </a:endParaRPr>
          </a:p>
        </p:txBody>
      </p:sp>
      <p:sp>
        <p:nvSpPr>
          <p:cNvPr id="130" name="Google Shape;130;p6"/>
          <p:cNvSpPr/>
          <p:nvPr/>
        </p:nvSpPr>
        <p:spPr>
          <a:xfrm>
            <a:off x="1280160" y="3223260"/>
            <a:ext cx="886968" cy="192024"/>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1" name="Google Shape;131;p6"/>
          <p:cNvSpPr/>
          <p:nvPr/>
        </p:nvSpPr>
        <p:spPr>
          <a:xfrm>
            <a:off x="1280160" y="3223260"/>
            <a:ext cx="88696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8DA8"/>
              </a:buClr>
              <a:buSzPts val="700"/>
              <a:buFont typeface="Calibri"/>
              <a:buNone/>
            </a:pPr>
            <a:r>
              <a:rPr b="0" i="0" lang="en-US" sz="700" u="none" cap="none" strike="noStrike">
                <a:solidFill>
                  <a:srgbClr val="718DA8"/>
                </a:solidFill>
                <a:latin typeface="Calibri"/>
                <a:ea typeface="Calibri"/>
                <a:cs typeface="Calibri"/>
                <a:sym typeface="Calibri"/>
              </a:rPr>
              <a:t>EY Trained</a:t>
            </a:r>
            <a:endParaRPr b="0" i="0" sz="700" u="none" cap="none" strike="noStrike">
              <a:solidFill>
                <a:srgbClr val="000000"/>
              </a:solidFill>
              <a:latin typeface="Calibri"/>
              <a:ea typeface="Calibri"/>
              <a:cs typeface="Calibri"/>
              <a:sym typeface="Calibri"/>
            </a:endParaRPr>
          </a:p>
        </p:txBody>
      </p:sp>
      <p:sp>
        <p:nvSpPr>
          <p:cNvPr id="132" name="Google Shape;132;p6"/>
          <p:cNvSpPr/>
          <p:nvPr/>
        </p:nvSpPr>
        <p:spPr>
          <a:xfrm>
            <a:off x="320040" y="4882896"/>
            <a:ext cx="886968" cy="192024"/>
          </a:xfrm>
          <a:prstGeom prst="rect">
            <a:avLst/>
          </a:prstGeom>
          <a:solidFill>
            <a:srgbClr val="0F1A2E"/>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3" name="Google Shape;133;p6"/>
          <p:cNvSpPr/>
          <p:nvPr/>
        </p:nvSpPr>
        <p:spPr>
          <a:xfrm>
            <a:off x="320040" y="4882896"/>
            <a:ext cx="886968" cy="192024"/>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718DA8"/>
              </a:buClr>
              <a:buSzPts val="700"/>
              <a:buFont typeface="Calibri"/>
              <a:buNone/>
            </a:pPr>
            <a:r>
              <a:rPr b="0" i="0" lang="en-US" sz="700" u="none" cap="none" strike="noStrike">
                <a:solidFill>
                  <a:srgbClr val="718DA8"/>
                </a:solidFill>
                <a:latin typeface="Calibri"/>
                <a:ea typeface="Calibri"/>
                <a:cs typeface="Calibri"/>
                <a:sym typeface="Calibri"/>
              </a:rPr>
              <a:t>25+ yrs</a:t>
            </a:r>
            <a:endParaRPr b="0" i="0" sz="700" u="none" cap="none" strike="noStrike">
              <a:solidFill>
                <a:srgbClr val="000000"/>
              </a:solidFill>
              <a:latin typeface="Calibri"/>
              <a:ea typeface="Calibri"/>
              <a:cs typeface="Calibri"/>
              <a:sym typeface="Calibri"/>
            </a:endParaRPr>
          </a:p>
        </p:txBody>
      </p:sp>
      <p:sp>
        <p:nvSpPr>
          <p:cNvPr id="134" name="Google Shape;134;p6"/>
          <p:cNvSpPr/>
          <p:nvPr/>
        </p:nvSpPr>
        <p:spPr>
          <a:xfrm>
            <a:off x="2359152" y="1481328"/>
            <a:ext cx="6464808" cy="960120"/>
          </a:xfrm>
          <a:prstGeom prst="rect">
            <a:avLst/>
          </a:prstGeom>
          <a:solidFill>
            <a:srgbClr val="062E28"/>
          </a:solidFill>
          <a:ln cap="flat" cmpd="sng" w="9525">
            <a:solidFill>
              <a:srgbClr val="0A4A3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5" name="Google Shape;135;p6"/>
          <p:cNvSpPr/>
          <p:nvPr/>
        </p:nvSpPr>
        <p:spPr>
          <a:xfrm>
            <a:off x="2359152" y="1481328"/>
            <a:ext cx="36576" cy="960120"/>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6" name="Google Shape;136;p6"/>
          <p:cNvSpPr/>
          <p:nvPr/>
        </p:nvSpPr>
        <p:spPr>
          <a:xfrm>
            <a:off x="2487168" y="1536192"/>
            <a:ext cx="6217920" cy="841248"/>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Clr>
                <a:srgbClr val="F0F7FF"/>
              </a:buClr>
              <a:buSzPts val="1100"/>
              <a:buFont typeface="Georgia"/>
              <a:buNone/>
            </a:pPr>
            <a:r>
              <a:rPr b="0" i="1" lang="en-US" sz="1100" u="none" cap="none" strike="noStrike">
                <a:solidFill>
                  <a:srgbClr val="F0F7FF"/>
                </a:solidFill>
                <a:latin typeface="Georgia"/>
                <a:ea typeface="Georgia"/>
                <a:cs typeface="Georgia"/>
                <a:sym typeface="Georgia"/>
              </a:rPr>
              <a:t>"Most AI in supply chain promised transformation and delivered dashboards. We built Optaro because We knew the problem wasn't data — it was that no system would actually act on it."</a:t>
            </a:r>
            <a:endParaRPr b="0" i="0" sz="1100" u="none" cap="none" strike="noStrike">
              <a:solidFill>
                <a:srgbClr val="000000"/>
              </a:solidFill>
              <a:latin typeface="Calibri"/>
              <a:ea typeface="Calibri"/>
              <a:cs typeface="Calibri"/>
              <a:sym typeface="Calibri"/>
            </a:endParaRPr>
          </a:p>
        </p:txBody>
      </p:sp>
      <p:sp>
        <p:nvSpPr>
          <p:cNvPr id="137" name="Google Shape;137;p6"/>
          <p:cNvSpPr/>
          <p:nvPr/>
        </p:nvSpPr>
        <p:spPr>
          <a:xfrm>
            <a:off x="2359152" y="2560320"/>
            <a:ext cx="6464808" cy="2084832"/>
          </a:xfrm>
          <a:prstGeom prst="rect">
            <a:avLst/>
          </a:prstGeom>
          <a:solidFill>
            <a:srgbClr val="0A1220"/>
          </a:solidFill>
          <a:ln cap="flat" cmpd="sng" w="9525">
            <a:solidFill>
              <a:srgbClr val="33333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8" name="Google Shape;138;p6"/>
          <p:cNvSpPr/>
          <p:nvPr/>
        </p:nvSpPr>
        <p:spPr>
          <a:xfrm>
            <a:off x="2359152" y="2560320"/>
            <a:ext cx="36576" cy="2084832"/>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39" name="Google Shape;139;p6"/>
          <p:cNvSpPr/>
          <p:nvPr/>
        </p:nvSpPr>
        <p:spPr>
          <a:xfrm>
            <a:off x="2496312" y="2615184"/>
            <a:ext cx="621792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750"/>
              <a:buFont typeface="Calibri"/>
              <a:buNone/>
            </a:pPr>
            <a:r>
              <a:rPr b="1" i="0" lang="en-US" sz="750" u="none" cap="none" strike="noStrike">
                <a:solidFill>
                  <a:srgbClr val="00C9A7"/>
                </a:solidFill>
                <a:latin typeface="Calibri"/>
                <a:ea typeface="Calibri"/>
                <a:cs typeface="Calibri"/>
                <a:sym typeface="Calibri"/>
              </a:rPr>
              <a:t>MARK'S BELIEF · IN HIS OWN WORDS</a:t>
            </a:r>
            <a:endParaRPr b="0" i="0" sz="750" u="none" cap="none" strike="noStrike">
              <a:solidFill>
                <a:srgbClr val="000000"/>
              </a:solidFill>
              <a:latin typeface="Calibri"/>
              <a:ea typeface="Calibri"/>
              <a:cs typeface="Calibri"/>
              <a:sym typeface="Calibri"/>
            </a:endParaRPr>
          </a:p>
        </p:txBody>
      </p:sp>
      <p:sp>
        <p:nvSpPr>
          <p:cNvPr id="140" name="Google Shape;140;p6"/>
          <p:cNvSpPr/>
          <p:nvPr/>
        </p:nvSpPr>
        <p:spPr>
          <a:xfrm>
            <a:off x="2496312" y="2834640"/>
            <a:ext cx="6217920" cy="749808"/>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C8DAEA"/>
              </a:buClr>
              <a:buSzPts val="900"/>
              <a:buFont typeface="Calibri"/>
              <a:buNone/>
            </a:pPr>
            <a:r>
              <a:rPr b="0" i="0" lang="en-US" sz="900" u="none" cap="none" strike="noStrike">
                <a:solidFill>
                  <a:srgbClr val="C8DAEA"/>
                </a:solidFill>
                <a:latin typeface="Calibri"/>
                <a:ea typeface="Calibri"/>
                <a:cs typeface="Calibri"/>
                <a:sym typeface="Calibri"/>
              </a:rPr>
              <a:t>I believe we are at a genuine inflection point — where AI can move beyond augmenting individual functions and become the connective intelligence that orchestrates decisions across an entire business. My career across Audit, Finance, Supply Chain, and Operations has given me a clear view of where the greatest value sits: not inside any single function, but in the speed and quality of decisions made across all of them together.</a:t>
            </a:r>
            <a:endParaRPr b="0" i="0" sz="900" u="none" cap="none" strike="noStrike">
              <a:solidFill>
                <a:srgbClr val="000000"/>
              </a:solidFill>
              <a:latin typeface="Calibri"/>
              <a:ea typeface="Calibri"/>
              <a:cs typeface="Calibri"/>
              <a:sym typeface="Calibri"/>
            </a:endParaRPr>
          </a:p>
        </p:txBody>
      </p:sp>
      <p:sp>
        <p:nvSpPr>
          <p:cNvPr id="141" name="Google Shape;141;p6"/>
          <p:cNvSpPr/>
          <p:nvPr/>
        </p:nvSpPr>
        <p:spPr>
          <a:xfrm>
            <a:off x="2496312" y="3611880"/>
            <a:ext cx="6217920" cy="621792"/>
          </a:xfrm>
          <a:prstGeom prst="rect">
            <a:avLst/>
          </a:prstGeom>
          <a:noFill/>
          <a:ln>
            <a:noFill/>
          </a:ln>
        </p:spPr>
        <p:txBody>
          <a:bodyPr anchorCtr="0" anchor="ctr" bIns="0" lIns="0" spcFirstLastPara="1" rIns="0" wrap="square" tIns="0">
            <a:noAutofit/>
          </a:bodyPr>
          <a:lstStyle/>
          <a:p>
            <a:pPr indent="0" lvl="0" marL="0" marR="0" rtl="0" algn="l">
              <a:lnSpc>
                <a:spcPct val="135000"/>
              </a:lnSpc>
              <a:spcBef>
                <a:spcPts val="0"/>
              </a:spcBef>
              <a:spcAft>
                <a:spcPts val="0"/>
              </a:spcAft>
              <a:buClr>
                <a:srgbClr val="C8DAEA"/>
              </a:buClr>
              <a:buSzPts val="900"/>
              <a:buFont typeface="Calibri"/>
              <a:buNone/>
            </a:pPr>
            <a:r>
              <a:rPr b="0" i="0" lang="en-US" sz="900" u="none" cap="none" strike="noStrike">
                <a:solidFill>
                  <a:srgbClr val="C8DAEA"/>
                </a:solidFill>
                <a:latin typeface="Calibri"/>
                <a:ea typeface="Calibri"/>
                <a:cs typeface="Calibri"/>
                <a:sym typeface="Calibri"/>
              </a:rPr>
              <a:t>Agentic AI makes that possible — systems that don't just surface the right answer but act on it, within guardrails that make autonomous execution something leaders can genuinely trust. Governance has always mattered to me; every decision an agent makes should be traceable and explainable, because accountability is what turns capability into confidence.</a:t>
            </a:r>
            <a:endParaRPr b="0" i="0" sz="900" u="none" cap="none" strike="noStrike">
              <a:solidFill>
                <a:srgbClr val="000000"/>
              </a:solidFill>
              <a:latin typeface="Calibri"/>
              <a:ea typeface="Calibri"/>
              <a:cs typeface="Calibri"/>
              <a:sym typeface="Calibri"/>
            </a:endParaRPr>
          </a:p>
        </p:txBody>
      </p:sp>
      <p:sp>
        <p:nvSpPr>
          <p:cNvPr id="142" name="Google Shape;142;p6"/>
          <p:cNvSpPr/>
          <p:nvPr/>
        </p:nvSpPr>
        <p:spPr>
          <a:xfrm>
            <a:off x="2496312" y="4297680"/>
            <a:ext cx="621792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C9A7"/>
              </a:buClr>
              <a:buSzPts val="950"/>
              <a:buFont typeface="Calibri"/>
              <a:buNone/>
            </a:pPr>
            <a:r>
              <a:rPr b="1" i="0" lang="en-US" sz="950" u="none" cap="none" strike="noStrike">
                <a:solidFill>
                  <a:srgbClr val="00C9A7"/>
                </a:solidFill>
                <a:latin typeface="Calibri"/>
                <a:ea typeface="Calibri"/>
                <a:cs typeface="Calibri"/>
                <a:sym typeface="Calibri"/>
              </a:rPr>
              <a:t>We built Optaro to make that vision real — a platform that doesn't just tell you what should happen, but makes it happen.</a:t>
            </a:r>
            <a:endParaRPr b="0" i="0" sz="950" u="none" cap="none" strike="noStrike">
              <a:solidFill>
                <a:srgbClr val="000000"/>
              </a:solidFill>
              <a:latin typeface="Calibri"/>
              <a:ea typeface="Calibri"/>
              <a:cs typeface="Calibri"/>
              <a:sym typeface="Calibri"/>
            </a:endParaRPr>
          </a:p>
        </p:txBody>
      </p:sp>
      <p:sp>
        <p:nvSpPr>
          <p:cNvPr id="143" name="Google Shape;143;p6"/>
          <p:cNvSpPr/>
          <p:nvPr/>
        </p:nvSpPr>
        <p:spPr>
          <a:xfrm>
            <a:off x="0" y="4846320"/>
            <a:ext cx="9144000" cy="29718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
        <p:nvSpPr>
          <p:cNvPr id="144" name="Google Shape;144;p6"/>
          <p:cNvSpPr/>
          <p:nvPr/>
        </p:nvSpPr>
        <p:spPr>
          <a:xfrm>
            <a:off x="320040" y="4864608"/>
            <a:ext cx="4572000"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3E566B"/>
              </a:buClr>
              <a:buSzPts val="800"/>
              <a:buFont typeface="Calibri"/>
              <a:buNone/>
            </a:pPr>
            <a:r>
              <a:rPr b="0" i="0" lang="en-US" sz="800" u="none" cap="none" strike="noStrike">
                <a:solidFill>
                  <a:srgbClr val="3E566B"/>
                </a:solidFill>
                <a:latin typeface="Calibri"/>
                <a:ea typeface="Calibri"/>
                <a:cs typeface="Calibri"/>
                <a:sym typeface="Calibri"/>
              </a:rPr>
              <a:t>About · Optaro.ai</a:t>
            </a:r>
            <a:endParaRPr b="0" i="0" sz="800" u="none" cap="none" strike="noStrike">
              <a:solidFill>
                <a:srgbClr val="000000"/>
              </a:solidFill>
              <a:latin typeface="Calibri"/>
              <a:ea typeface="Calibri"/>
              <a:cs typeface="Calibri"/>
              <a:sym typeface="Calibri"/>
            </a:endParaRPr>
          </a:p>
        </p:txBody>
      </p:sp>
      <p:sp>
        <p:nvSpPr>
          <p:cNvPr id="145" name="Google Shape;145;p6"/>
          <p:cNvSpPr/>
          <p:nvPr/>
        </p:nvSpPr>
        <p:spPr>
          <a:xfrm>
            <a:off x="6858000" y="4864608"/>
            <a:ext cx="2194560" cy="256032"/>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3E566B"/>
              </a:buClr>
              <a:buSzPts val="800"/>
              <a:buFont typeface="Calibri"/>
              <a:buNone/>
            </a:pPr>
            <a:r>
              <a:rPr b="0" i="0" lang="en-US" sz="800" u="none" cap="none" strike="noStrike">
                <a:solidFill>
                  <a:srgbClr val="3E566B"/>
                </a:solidFill>
                <a:latin typeface="Calibri"/>
                <a:ea typeface="Calibri"/>
                <a:cs typeface="Calibri"/>
                <a:sym typeface="Calibri"/>
              </a:rPr>
              <a:t>optaro.ai  ·  Confidential</a:t>
            </a:r>
            <a:endParaRPr b="0" i="0" sz="800" u="none" cap="none" strike="noStrike">
              <a:solidFill>
                <a:srgbClr val="000000"/>
              </a:solidFill>
              <a:latin typeface="Calibri"/>
              <a:ea typeface="Calibri"/>
              <a:cs typeface="Calibri"/>
              <a:sym typeface="Calibri"/>
            </a:endParaRPr>
          </a:p>
        </p:txBody>
      </p:sp>
      <p:sp>
        <p:nvSpPr>
          <p:cNvPr id="146" name="Google Shape;146;p6"/>
          <p:cNvSpPr/>
          <p:nvPr/>
        </p:nvSpPr>
        <p:spPr>
          <a:xfrm>
            <a:off x="0" y="5125212"/>
            <a:ext cx="8229600" cy="18288"/>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Calibri"/>
              <a:buNone/>
            </a:pPr>
            <a:r>
              <a:t/>
            </a:r>
            <a:endParaRPr b="0" i="0" sz="1800" u="none" cap="none" strike="noStrike">
              <a:solidFill>
                <a:srgbClr val="000000"/>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4080F"/>
        </a:solidFill>
      </p:bgPr>
    </p:bg>
    <p:spTree>
      <p:nvGrpSpPr>
        <p:cNvPr id="151" name="Shape 151"/>
        <p:cNvGrpSpPr/>
        <p:nvPr/>
      </p:nvGrpSpPr>
      <p:grpSpPr>
        <a:xfrm>
          <a:off x="0" y="0"/>
          <a:ext cx="0" cy="0"/>
          <a:chOff x="0" y="0"/>
          <a:chExt cx="0" cy="0"/>
        </a:xfrm>
      </p:grpSpPr>
      <p:cxnSp>
        <p:nvCxnSpPr>
          <p:cNvPr id="152" name="Google Shape;152;p7"/>
          <p:cNvCxnSpPr/>
          <p:nvPr/>
        </p:nvCxnSpPr>
        <p:spPr>
          <a:xfrm>
            <a:off x="658368"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3" name="Google Shape;153;p7"/>
          <p:cNvCxnSpPr/>
          <p:nvPr/>
        </p:nvCxnSpPr>
        <p:spPr>
          <a:xfrm>
            <a:off x="1316736"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4" name="Google Shape;154;p7"/>
          <p:cNvCxnSpPr/>
          <p:nvPr/>
        </p:nvCxnSpPr>
        <p:spPr>
          <a:xfrm>
            <a:off x="1975104"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5" name="Google Shape;155;p7"/>
          <p:cNvCxnSpPr/>
          <p:nvPr/>
        </p:nvCxnSpPr>
        <p:spPr>
          <a:xfrm>
            <a:off x="2633472"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6" name="Google Shape;156;p7"/>
          <p:cNvCxnSpPr/>
          <p:nvPr/>
        </p:nvCxnSpPr>
        <p:spPr>
          <a:xfrm>
            <a:off x="3291840"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7" name="Google Shape;157;p7"/>
          <p:cNvCxnSpPr/>
          <p:nvPr/>
        </p:nvCxnSpPr>
        <p:spPr>
          <a:xfrm>
            <a:off x="3950208"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8" name="Google Shape;158;p7"/>
          <p:cNvCxnSpPr/>
          <p:nvPr/>
        </p:nvCxnSpPr>
        <p:spPr>
          <a:xfrm>
            <a:off x="4608576"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59" name="Google Shape;159;p7"/>
          <p:cNvCxnSpPr/>
          <p:nvPr/>
        </p:nvCxnSpPr>
        <p:spPr>
          <a:xfrm>
            <a:off x="5266944"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60" name="Google Shape;160;p7"/>
          <p:cNvCxnSpPr/>
          <p:nvPr/>
        </p:nvCxnSpPr>
        <p:spPr>
          <a:xfrm>
            <a:off x="5925312"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61" name="Google Shape;161;p7"/>
          <p:cNvCxnSpPr/>
          <p:nvPr/>
        </p:nvCxnSpPr>
        <p:spPr>
          <a:xfrm>
            <a:off x="6583680"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62" name="Google Shape;162;p7"/>
          <p:cNvCxnSpPr/>
          <p:nvPr/>
        </p:nvCxnSpPr>
        <p:spPr>
          <a:xfrm>
            <a:off x="7242048"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63" name="Google Shape;163;p7"/>
          <p:cNvCxnSpPr/>
          <p:nvPr/>
        </p:nvCxnSpPr>
        <p:spPr>
          <a:xfrm>
            <a:off x="7900416" y="0"/>
            <a:ext cx="0" cy="5143500"/>
          </a:xfrm>
          <a:prstGeom prst="straightConnector1">
            <a:avLst/>
          </a:prstGeom>
          <a:noFill/>
          <a:ln cap="flat" cmpd="sng" w="9525">
            <a:solidFill>
              <a:srgbClr val="0D1B2E"/>
            </a:solidFill>
            <a:prstDash val="solid"/>
            <a:round/>
            <a:headEnd len="sm" w="sm" type="none"/>
            <a:tailEnd len="sm" w="sm" type="none"/>
          </a:ln>
        </p:spPr>
      </p:cxnSp>
      <p:cxnSp>
        <p:nvCxnSpPr>
          <p:cNvPr id="164" name="Google Shape;164;p7"/>
          <p:cNvCxnSpPr/>
          <p:nvPr/>
        </p:nvCxnSpPr>
        <p:spPr>
          <a:xfrm>
            <a:off x="8558784" y="0"/>
            <a:ext cx="0" cy="5143500"/>
          </a:xfrm>
          <a:prstGeom prst="straightConnector1">
            <a:avLst/>
          </a:prstGeom>
          <a:noFill/>
          <a:ln cap="flat" cmpd="sng" w="9525">
            <a:solidFill>
              <a:srgbClr val="0D1B2E"/>
            </a:solidFill>
            <a:prstDash val="solid"/>
            <a:round/>
            <a:headEnd len="sm" w="sm" type="none"/>
            <a:tailEnd len="sm" w="sm" type="none"/>
          </a:ln>
        </p:spPr>
      </p:cxnSp>
      <p:sp>
        <p:nvSpPr>
          <p:cNvPr id="165" name="Google Shape;165;p7"/>
          <p:cNvSpPr/>
          <p:nvPr/>
        </p:nvSpPr>
        <p:spPr>
          <a:xfrm>
            <a:off x="6217920" y="0"/>
            <a:ext cx="2926080" cy="54864"/>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6" name="Google Shape;166;p7"/>
          <p:cNvSpPr/>
          <p:nvPr/>
        </p:nvSpPr>
        <p:spPr>
          <a:xfrm>
            <a:off x="548640" y="502920"/>
            <a:ext cx="411480" cy="411480"/>
          </a:xfrm>
          <a:prstGeom prst="rect">
            <a:avLst/>
          </a:prstGeom>
          <a:solidFill>
            <a:srgbClr val="00C9A7"/>
          </a:solidFill>
          <a:ln cap="flat" cmpd="sng" w="12700">
            <a:solidFill>
              <a:srgbClr val="00C9A7"/>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7" name="Google Shape;167;p7"/>
          <p:cNvSpPr/>
          <p:nvPr/>
        </p:nvSpPr>
        <p:spPr>
          <a:xfrm>
            <a:off x="1051560" y="502920"/>
            <a:ext cx="2743200" cy="4114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2000"/>
              <a:buFont typeface="Calibri"/>
              <a:buNone/>
            </a:pPr>
            <a:r>
              <a:rPr b="1" i="0" lang="en-US" sz="2000" u="none" cap="none" strike="noStrike">
                <a:solidFill>
                  <a:srgbClr val="F0F7FF"/>
                </a:solidFill>
                <a:latin typeface="Calibri"/>
                <a:ea typeface="Calibri"/>
                <a:cs typeface="Calibri"/>
                <a:sym typeface="Calibri"/>
              </a:rPr>
              <a:t>Optaro</a:t>
            </a:r>
            <a:r>
              <a:rPr b="1" i="0" lang="en-US" sz="2000" u="none" cap="none" strike="noStrike">
                <a:solidFill>
                  <a:srgbClr val="00C9A7"/>
                </a:solidFill>
                <a:latin typeface="Calibri"/>
                <a:ea typeface="Calibri"/>
                <a:cs typeface="Calibri"/>
                <a:sym typeface="Calibri"/>
              </a:rPr>
              <a:t>.ai</a:t>
            </a:r>
            <a:endParaRPr b="0" i="0" sz="2000" u="none" cap="none" strike="noStrike">
              <a:solidFill>
                <a:srgbClr val="000000"/>
              </a:solidFill>
              <a:latin typeface="Calibri"/>
              <a:ea typeface="Calibri"/>
              <a:cs typeface="Calibri"/>
              <a:sym typeface="Calibri"/>
            </a:endParaRPr>
          </a:p>
        </p:txBody>
      </p:sp>
      <p:sp>
        <p:nvSpPr>
          <p:cNvPr id="168" name="Google Shape;168;p7"/>
          <p:cNvSpPr/>
          <p:nvPr/>
        </p:nvSpPr>
        <p:spPr>
          <a:xfrm>
            <a:off x="1886339" y="1024128"/>
            <a:ext cx="53949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0F7FF"/>
              </a:buClr>
              <a:buSzPts val="4000"/>
              <a:buFont typeface="Georgia"/>
              <a:buNone/>
            </a:pPr>
            <a:r>
              <a:rPr b="1" i="0" lang="en-US" sz="4000" u="none" cap="none" strike="noStrike">
                <a:solidFill>
                  <a:srgbClr val="F0F7FF"/>
                </a:solidFill>
                <a:latin typeface="Georgia"/>
                <a:ea typeface="Georgia"/>
                <a:cs typeface="Georgia"/>
                <a:sym typeface="Georgia"/>
              </a:rPr>
              <a:t>See Optaro working</a:t>
            </a:r>
            <a:endParaRPr b="0" i="0" sz="4000" u="none" cap="none" strike="noStrike">
              <a:solidFill>
                <a:srgbClr val="000000"/>
              </a:solidFill>
              <a:latin typeface="Calibri"/>
              <a:ea typeface="Calibri"/>
              <a:cs typeface="Calibri"/>
              <a:sym typeface="Calibri"/>
            </a:endParaRPr>
          </a:p>
        </p:txBody>
      </p:sp>
      <p:sp>
        <p:nvSpPr>
          <p:cNvPr id="169" name="Google Shape;169;p7"/>
          <p:cNvSpPr/>
          <p:nvPr/>
        </p:nvSpPr>
        <p:spPr>
          <a:xfrm>
            <a:off x="548640" y="1993392"/>
            <a:ext cx="5394960" cy="6583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chemeClr val="dk1"/>
              </a:buClr>
              <a:buSzPts val="4000"/>
              <a:buFont typeface="Calibri"/>
              <a:buNone/>
            </a:pPr>
            <a:r>
              <a:t/>
            </a:r>
            <a:endParaRPr b="0" i="0" sz="4000" u="none" cap="none" strike="noStrike">
              <a:solidFill>
                <a:srgbClr val="000000"/>
              </a:solidFill>
              <a:latin typeface="Calibri"/>
              <a:ea typeface="Calibri"/>
              <a:cs typeface="Calibri"/>
              <a:sym typeface="Calibri"/>
            </a:endParaRPr>
          </a:p>
        </p:txBody>
      </p:sp>
      <p:sp>
        <p:nvSpPr>
          <p:cNvPr id="170" name="Google Shape;170;p7"/>
          <p:cNvSpPr/>
          <p:nvPr/>
        </p:nvSpPr>
        <p:spPr>
          <a:xfrm>
            <a:off x="0" y="4846320"/>
            <a:ext cx="9144000" cy="297180"/>
          </a:xfrm>
          <a:prstGeom prst="rect">
            <a:avLst/>
          </a:prstGeom>
          <a:solidFill>
            <a:srgbClr val="0A1220"/>
          </a:solidFill>
          <a:ln cap="flat" cmpd="sng" w="9525">
            <a:solidFill>
              <a:srgbClr val="1C2E4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171" name="Google Shape;171;p7"/>
          <p:cNvPicPr preferRelativeResize="0"/>
          <p:nvPr/>
        </p:nvPicPr>
        <p:blipFill rotWithShape="1">
          <a:blip r:embed="rId3">
            <a:alphaModFix/>
          </a:blip>
          <a:srcRect b="0" l="0" r="0" t="0"/>
          <a:stretch/>
        </p:blipFill>
        <p:spPr>
          <a:xfrm>
            <a:off x="2594222" y="1792224"/>
            <a:ext cx="3947670" cy="2961997"/>
          </a:xfrm>
          <a:prstGeom prst="rect">
            <a:avLst/>
          </a:prstGeom>
          <a:noFill/>
          <a:ln>
            <a:noFill/>
          </a:ln>
        </p:spPr>
      </p:pic>
      <p:pic>
        <p:nvPicPr>
          <p:cNvPr id="172" name="Google Shape;172;p7"/>
          <p:cNvPicPr preferRelativeResize="0"/>
          <p:nvPr/>
        </p:nvPicPr>
        <p:blipFill rotWithShape="1">
          <a:blip r:embed="rId4">
            <a:alphaModFix/>
          </a:blip>
          <a:srcRect b="0" l="0" r="0" t="0"/>
          <a:stretch/>
        </p:blipFill>
        <p:spPr>
          <a:xfrm>
            <a:off x="7366000" y="62391"/>
            <a:ext cx="1778000" cy="5715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2026-04-01T23:53:48Z</dcterms:created>
  <dc:creator>Mark Robinson</dc:creator>
</cp:coreProperties>
</file>